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y="5143500" cx="9144000"/>
  <p:notesSz cx="6858000" cy="9144000"/>
  <p:embeddedFontLst>
    <p:embeddedFont>
      <p:font typeface="Montserrat"/>
      <p:regular r:id="rId90"/>
      <p:bold r:id="rId91"/>
      <p:italic r:id="rId92"/>
      <p:boldItalic r:id="rId93"/>
    </p:embeddedFont>
    <p:embeddedFont>
      <p:font typeface="Lato"/>
      <p:regular r:id="rId94"/>
      <p:bold r:id="rId95"/>
      <p:italic r:id="rId96"/>
      <p:boldItalic r:id="rId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98" roundtripDataSignature="AMtx7mif1/DysI/uB7RamTNHgxd+0B/F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606B10-4E3B-47CF-9BD7-C86DE20F6734}">
  <a:tblStyle styleId="{32606B10-4E3B-47CF-9BD7-C86DE20F673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Lato-bold.fntdata"/><Relationship Id="rId94" Type="http://schemas.openxmlformats.org/officeDocument/2006/relationships/font" Target="fonts/Lato-regular.fntdata"/><Relationship Id="rId97" Type="http://schemas.openxmlformats.org/officeDocument/2006/relationships/font" Target="fonts/Lato-boldItalic.fntdata"/><Relationship Id="rId96" Type="http://schemas.openxmlformats.org/officeDocument/2006/relationships/font" Target="fonts/Lato-italic.fntdata"/><Relationship Id="rId11" Type="http://schemas.openxmlformats.org/officeDocument/2006/relationships/slide" Target="slides/slide5.xml"/><Relationship Id="rId10" Type="http://schemas.openxmlformats.org/officeDocument/2006/relationships/slide" Target="slides/slide4.xml"/><Relationship Id="rId98"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Montserrat-bold.fntdata"/><Relationship Id="rId90" Type="http://schemas.openxmlformats.org/officeDocument/2006/relationships/font" Target="fonts/Montserrat-regular.fntdata"/><Relationship Id="rId93" Type="http://schemas.openxmlformats.org/officeDocument/2006/relationships/font" Target="fonts/Montserrat-boldItalic.fntdata"/><Relationship Id="rId92" Type="http://schemas.openxmlformats.org/officeDocument/2006/relationships/font" Target="fonts/Montserrat-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49ee5ed4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49ee5ed4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2dc911498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2dc911498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2dc9114983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2dc911498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2dc9114983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2dc9114983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2dc91149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2dc91149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2dc911498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2dc911498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2dc911498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2dc911498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2dc911498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2dc911498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2dc911498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2dc911498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2dc911498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2dc911498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2dc911498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2dc911498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3e73741058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3e73741058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3e73741058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3e73741058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3e73741058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3e73741058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3e73741058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3e73741058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3e73741058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3e73741058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3e73741058_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3e73741058_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3e73741058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3e73741058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3e73741058_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3e73741058_3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3e73741058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3e73741058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3e73741058_3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23e73741058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3e73741058_3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3e73741058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3e73741058_3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3e73741058_3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3e73741058_3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3e73741058_3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3e73741058_3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3e73741058_3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3e73741058_3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3e73741058_3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3e73741058_3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3e73741058_3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3e73741058_3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3e73741058_3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3e73741058_3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3e73741058_3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3e73741058_3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3e73741058_3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3e73741058_3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3e73741058_3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3e73741058_3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3e73741058_3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3e73741058_3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3e73741058_3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3e73741058_3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3e73741058_3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49c1b7926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49c1b7926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49c1b7926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49c1b7926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49c1b7926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49c1b7926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49c1b7926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49c1b7926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49c1b7926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49c1b7926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49c058917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49c058917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49c058917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49c058917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49c058917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49c058917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49c05891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249c05891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2da1217f3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22da1217f3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grpSp>
        <p:nvGrpSpPr>
          <p:cNvPr id="10" name="Google Shape;10;p42"/>
          <p:cNvGrpSpPr/>
          <p:nvPr/>
        </p:nvGrpSpPr>
        <p:grpSpPr>
          <a:xfrm>
            <a:off x="4406400" y="0"/>
            <a:ext cx="4737600" cy="5143065"/>
            <a:chOff x="4406400" y="0"/>
            <a:chExt cx="4737600" cy="5143065"/>
          </a:xfrm>
        </p:grpSpPr>
        <p:sp>
          <p:nvSpPr>
            <p:cNvPr id="11" name="Google Shape;11;p42"/>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42"/>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2"/>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2"/>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2"/>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42"/>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42"/>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2"/>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2"/>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2"/>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2"/>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2"/>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2"/>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42"/>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42"/>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42"/>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42"/>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2"/>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2"/>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43"/>
          <p:cNvGrpSpPr/>
          <p:nvPr/>
        </p:nvGrpSpPr>
        <p:grpSpPr>
          <a:xfrm>
            <a:off x="0" y="381001"/>
            <a:ext cx="1037850" cy="1016288"/>
            <a:chOff x="0" y="381001"/>
            <a:chExt cx="1037850" cy="1016288"/>
          </a:xfrm>
        </p:grpSpPr>
        <p:sp>
          <p:nvSpPr>
            <p:cNvPr id="33" name="Google Shape;33;p4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 name="Google Shape;35;p4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4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7" name="Google Shape;37;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grpSp>
        <p:nvGrpSpPr>
          <p:cNvPr id="39" name="Google Shape;39;p44"/>
          <p:cNvGrpSpPr/>
          <p:nvPr/>
        </p:nvGrpSpPr>
        <p:grpSpPr>
          <a:xfrm>
            <a:off x="4406400" y="0"/>
            <a:ext cx="4737600" cy="5143500"/>
            <a:chOff x="4406400" y="0"/>
            <a:chExt cx="4737600" cy="5143500"/>
          </a:xfrm>
        </p:grpSpPr>
        <p:sp>
          <p:nvSpPr>
            <p:cNvPr id="40" name="Google Shape;40;p44"/>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4"/>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4"/>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4"/>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4"/>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4"/>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4"/>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4"/>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44"/>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4"/>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4"/>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4"/>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4"/>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4"/>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44"/>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4"/>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44"/>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4"/>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 name="Google Shape;58;p44"/>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9" name="Google Shape;59;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46"/>
          <p:cNvSpPr/>
          <p:nvPr/>
        </p:nvSpPr>
        <p:spPr>
          <a:xfrm rot="5400000">
            <a:off x="7500300" y="505"/>
            <a:ext cx="1643700" cy="1643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 name="Google Shape;64;p46"/>
          <p:cNvGrpSpPr/>
          <p:nvPr/>
        </p:nvGrpSpPr>
        <p:grpSpPr>
          <a:xfrm>
            <a:off x="0" y="490"/>
            <a:ext cx="5153705" cy="5134399"/>
            <a:chOff x="0" y="75"/>
            <a:chExt cx="5153705" cy="5152950"/>
          </a:xfrm>
        </p:grpSpPr>
        <p:sp>
          <p:nvSpPr>
            <p:cNvPr id="65" name="Google Shape;65;p46"/>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46"/>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6"/>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46"/>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 name="Google Shape;69;p46"/>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70" name="Google Shape;70;p46"/>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71" name="Google Shape;7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2" name="Shape 72"/>
        <p:cNvGrpSpPr/>
        <p:nvPr/>
      </p:nvGrpSpPr>
      <p:grpSpPr>
        <a:xfrm>
          <a:off x="0" y="0"/>
          <a:ext cx="0" cy="0"/>
          <a:chOff x="0" y="0"/>
          <a:chExt cx="0" cy="0"/>
        </a:xfrm>
      </p:grpSpPr>
      <p:grpSp>
        <p:nvGrpSpPr>
          <p:cNvPr id="73" name="Google Shape;73;p47"/>
          <p:cNvGrpSpPr/>
          <p:nvPr/>
        </p:nvGrpSpPr>
        <p:grpSpPr>
          <a:xfrm>
            <a:off x="0" y="381001"/>
            <a:ext cx="1037850" cy="1016288"/>
            <a:chOff x="0" y="381001"/>
            <a:chExt cx="1037850" cy="1016288"/>
          </a:xfrm>
        </p:grpSpPr>
        <p:sp>
          <p:nvSpPr>
            <p:cNvPr id="74" name="Google Shape;74;p4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4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6" name="Google Shape;76;p4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47"/>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47"/>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9" name="Google Shape;7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grpSp>
        <p:nvGrpSpPr>
          <p:cNvPr id="81" name="Google Shape;81;p48"/>
          <p:cNvGrpSpPr/>
          <p:nvPr/>
        </p:nvGrpSpPr>
        <p:grpSpPr>
          <a:xfrm>
            <a:off x="0" y="381001"/>
            <a:ext cx="1037850" cy="1016288"/>
            <a:chOff x="0" y="381001"/>
            <a:chExt cx="1037850" cy="1016288"/>
          </a:xfrm>
        </p:grpSpPr>
        <p:sp>
          <p:nvSpPr>
            <p:cNvPr id="82" name="Google Shape;82;p4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4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5" name="Google Shape;85;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6" name="Shape 86"/>
        <p:cNvGrpSpPr/>
        <p:nvPr/>
      </p:nvGrpSpPr>
      <p:grpSpPr>
        <a:xfrm>
          <a:off x="0" y="0"/>
          <a:ext cx="0" cy="0"/>
          <a:chOff x="0" y="0"/>
          <a:chExt cx="0" cy="0"/>
        </a:xfrm>
      </p:grpSpPr>
      <p:grpSp>
        <p:nvGrpSpPr>
          <p:cNvPr id="87" name="Google Shape;87;p49"/>
          <p:cNvGrpSpPr/>
          <p:nvPr/>
        </p:nvGrpSpPr>
        <p:grpSpPr>
          <a:xfrm>
            <a:off x="0" y="381001"/>
            <a:ext cx="1037850" cy="1016288"/>
            <a:chOff x="0" y="381001"/>
            <a:chExt cx="1037850" cy="1016288"/>
          </a:xfrm>
        </p:grpSpPr>
        <p:sp>
          <p:nvSpPr>
            <p:cNvPr id="88" name="Google Shape;88;p4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49"/>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1" name="Google Shape;91;p49"/>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2" name="Google Shape;92;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grpSp>
        <p:nvGrpSpPr>
          <p:cNvPr id="94" name="Google Shape;94;p50"/>
          <p:cNvGrpSpPr/>
          <p:nvPr/>
        </p:nvGrpSpPr>
        <p:grpSpPr>
          <a:xfrm>
            <a:off x="0" y="381001"/>
            <a:ext cx="1037850" cy="1016288"/>
            <a:chOff x="0" y="381001"/>
            <a:chExt cx="1037850" cy="1016288"/>
          </a:xfrm>
        </p:grpSpPr>
        <p:sp>
          <p:nvSpPr>
            <p:cNvPr id="95" name="Google Shape;95;p5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p50"/>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8" name="Google Shape;98;p50"/>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99" name="Google Shape;99;p50"/>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0" name="Google Shape;100;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1" name="Shape 101"/>
        <p:cNvGrpSpPr/>
        <p:nvPr/>
      </p:nvGrpSpPr>
      <p:grpSpPr>
        <a:xfrm>
          <a:off x="0" y="0"/>
          <a:ext cx="0" cy="0"/>
          <a:chOff x="0" y="0"/>
          <a:chExt cx="0" cy="0"/>
        </a:xfrm>
      </p:grpSpPr>
      <p:grpSp>
        <p:nvGrpSpPr>
          <p:cNvPr id="102" name="Google Shape;102;p51"/>
          <p:cNvGrpSpPr/>
          <p:nvPr/>
        </p:nvGrpSpPr>
        <p:grpSpPr>
          <a:xfrm>
            <a:off x="0" y="4128572"/>
            <a:ext cx="698925" cy="684657"/>
            <a:chOff x="0" y="3785672"/>
            <a:chExt cx="698925" cy="684657"/>
          </a:xfrm>
        </p:grpSpPr>
        <p:sp>
          <p:nvSpPr>
            <p:cNvPr id="103" name="Google Shape;103;p51"/>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1"/>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5" name="Google Shape;105;p5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6" name="Google Shape;106;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7" name="Shape 107"/>
        <p:cNvGrpSpPr/>
        <p:nvPr/>
      </p:nvGrpSpPr>
      <p:grpSpPr>
        <a:xfrm>
          <a:off x="0" y="0"/>
          <a:ext cx="0" cy="0"/>
          <a:chOff x="0" y="0"/>
          <a:chExt cx="0" cy="0"/>
        </a:xfrm>
      </p:grpSpPr>
      <p:grpSp>
        <p:nvGrpSpPr>
          <p:cNvPr id="108" name="Google Shape;108;p52"/>
          <p:cNvGrpSpPr/>
          <p:nvPr/>
        </p:nvGrpSpPr>
        <p:grpSpPr>
          <a:xfrm>
            <a:off x="4406400" y="0"/>
            <a:ext cx="4737600" cy="5143065"/>
            <a:chOff x="4406400" y="0"/>
            <a:chExt cx="4737600" cy="5143065"/>
          </a:xfrm>
        </p:grpSpPr>
        <p:sp>
          <p:nvSpPr>
            <p:cNvPr id="109" name="Google Shape;109;p52"/>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52"/>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52"/>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2"/>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2"/>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2"/>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2"/>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52"/>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2"/>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2"/>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2"/>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2"/>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2"/>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52"/>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2"/>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2"/>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2"/>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52"/>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7" name="Google Shape;127;p52"/>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28" name="Google Shape;128;p52"/>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9" name="Google Shape;12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7" name="Google Shape;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8" name="Google Shape;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5.png"/><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2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14.png"/><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3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2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1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3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image" Target="../media/image2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image" Target="../media/image2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 Id="rId3" Type="http://schemas.openxmlformats.org/officeDocument/2006/relationships/image" Target="../media/image3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 Id="rId3" Type="http://schemas.openxmlformats.org/officeDocument/2006/relationships/image" Target="../media/image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3" name="Shape 133"/>
        <p:cNvGrpSpPr/>
        <p:nvPr/>
      </p:nvGrpSpPr>
      <p:grpSpPr>
        <a:xfrm>
          <a:off x="0" y="0"/>
          <a:ext cx="0" cy="0"/>
          <a:chOff x="0" y="0"/>
          <a:chExt cx="0" cy="0"/>
        </a:xfrm>
      </p:grpSpPr>
      <p:sp>
        <p:nvSpPr>
          <p:cNvPr id="134" name="Google Shape;134;p1"/>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ts val="990"/>
              <a:buFont typeface="Arial"/>
              <a:buNone/>
            </a:pPr>
            <a:r>
              <a:rPr lang="en-GB" sz="5200"/>
              <a:t>A Deep Learning Approach For Detection of Alzheimer’s Disease </a:t>
            </a:r>
            <a:endParaRPr sz="5200"/>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                        TEAM MEMBERS</a:t>
            </a:r>
            <a:endParaRPr/>
          </a:p>
        </p:txBody>
      </p:sp>
      <p:sp>
        <p:nvSpPr>
          <p:cNvPr id="140" name="Google Shape;140;p2"/>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sz="7000"/>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graphicFrame>
        <p:nvGraphicFramePr>
          <p:cNvPr id="141" name="Google Shape;141;p2"/>
          <p:cNvGraphicFramePr/>
          <p:nvPr/>
        </p:nvGraphicFramePr>
        <p:xfrm>
          <a:off x="1376063" y="1708875"/>
          <a:ext cx="3000000" cy="3000000"/>
        </p:xfrm>
        <a:graphic>
          <a:graphicData uri="http://schemas.openxmlformats.org/drawingml/2006/table">
            <a:tbl>
              <a:tblPr>
                <a:noFill/>
                <a:tableStyleId>{32606B10-4E3B-47CF-9BD7-C86DE20F6734}</a:tableStyleId>
              </a:tblPr>
              <a:tblGrid>
                <a:gridCol w="1186800"/>
                <a:gridCol w="2022325"/>
                <a:gridCol w="3564500"/>
              </a:tblGrid>
              <a:tr h="46465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S.NO</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ROLL NO</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STUDENT NAME</a:t>
                      </a:r>
                      <a:endParaRPr sz="1400" u="none" cap="none" strike="noStrike">
                        <a:solidFill>
                          <a:schemeClr val="lt1"/>
                        </a:solidFill>
                      </a:endParaRPr>
                    </a:p>
                  </a:txBody>
                  <a:tcPr marT="91425" marB="91425" marR="91425" marL="91425"/>
                </a:tc>
              </a:tr>
              <a:tr h="46867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1</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160719733023</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MANJREKAR DHRUV TEJA</a:t>
                      </a:r>
                      <a:endParaRPr sz="1400" u="none" cap="none" strike="noStrike">
                        <a:solidFill>
                          <a:schemeClr val="lt1"/>
                        </a:solidFill>
                      </a:endParaRPr>
                    </a:p>
                  </a:txBody>
                  <a:tcPr marT="91425" marB="91425" marR="91425" marL="91425"/>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2</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160719733003</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TAUSEEF ALI KHAN</a:t>
                      </a:r>
                      <a:endParaRPr sz="1400" u="none" cap="none" strike="noStrike">
                        <a:solidFill>
                          <a:schemeClr val="lt1"/>
                        </a:solidFill>
                      </a:endParaRPr>
                    </a:p>
                  </a:txBody>
                  <a:tcPr marT="91425" marB="91425" marR="91425" marL="91425"/>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3</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160719733002</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SANTOSH BHONAGIRI</a:t>
                      </a:r>
                      <a:endParaRPr sz="1400" u="none" cap="none" strike="noStrike">
                        <a:solidFill>
                          <a:schemeClr val="lt1"/>
                        </a:solidFill>
                      </a:endParaRPr>
                    </a:p>
                  </a:txBody>
                  <a:tcPr marT="91425" marB="91425" marR="91425" marL="91425"/>
                </a:tc>
              </a:tr>
            </a:tbl>
          </a:graphicData>
        </a:graphic>
      </p:graphicFrame>
      <p:sp>
        <p:nvSpPr>
          <p:cNvPr id="142" name="Google Shape;142;p2"/>
          <p:cNvSpPr txBox="1"/>
          <p:nvPr/>
        </p:nvSpPr>
        <p:spPr>
          <a:xfrm>
            <a:off x="5872571" y="3714750"/>
            <a:ext cx="220741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Under the Guidance of</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Mr. A R R Senthil Kumar</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Associate Professor</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3" name="Google Shape;143;p2"/>
          <p:cNvSpPr txBox="1"/>
          <p:nvPr/>
        </p:nvSpPr>
        <p:spPr>
          <a:xfrm>
            <a:off x="1182189" y="3686803"/>
            <a:ext cx="25733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Project Coordinator</a:t>
            </a:r>
            <a:endParaRPr/>
          </a:p>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Mr. T. Praveen Kumar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49ee5ed485_0_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Table of Content</a:t>
            </a:r>
            <a:endParaRPr b="1"/>
          </a:p>
        </p:txBody>
      </p:sp>
      <p:sp>
        <p:nvSpPr>
          <p:cNvPr id="149" name="Google Shape;149;g249ee5ed485_0_0"/>
          <p:cNvSpPr txBox="1"/>
          <p:nvPr>
            <p:ph idx="1" type="body"/>
          </p:nvPr>
        </p:nvSpPr>
        <p:spPr>
          <a:xfrm>
            <a:off x="1297500" y="1139575"/>
            <a:ext cx="7038900" cy="33864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GB"/>
              <a:t> Introduction</a:t>
            </a:r>
            <a:endParaRPr/>
          </a:p>
          <a:p>
            <a:pPr indent="-311150" lvl="0" marL="457200" rtl="0" algn="l">
              <a:lnSpc>
                <a:spcPct val="115000"/>
              </a:lnSpc>
              <a:spcBef>
                <a:spcPts val="0"/>
              </a:spcBef>
              <a:spcAft>
                <a:spcPts val="0"/>
              </a:spcAft>
              <a:buSzPts val="1300"/>
              <a:buChar char="●"/>
            </a:pPr>
            <a:r>
              <a:rPr lang="en-GB"/>
              <a:t> Literature Survey</a:t>
            </a:r>
            <a:endParaRPr/>
          </a:p>
          <a:p>
            <a:pPr indent="-311150" lvl="0" marL="457200" rtl="0" algn="l">
              <a:lnSpc>
                <a:spcPct val="115000"/>
              </a:lnSpc>
              <a:spcBef>
                <a:spcPts val="0"/>
              </a:spcBef>
              <a:spcAft>
                <a:spcPts val="0"/>
              </a:spcAft>
              <a:buSzPts val="1300"/>
              <a:buChar char="●"/>
            </a:pPr>
            <a:r>
              <a:rPr lang="en-GB"/>
              <a:t> Motivation For Project</a:t>
            </a:r>
            <a:endParaRPr/>
          </a:p>
          <a:p>
            <a:pPr indent="-311150" lvl="0" marL="457200" rtl="0" algn="l">
              <a:lnSpc>
                <a:spcPct val="115000"/>
              </a:lnSpc>
              <a:spcBef>
                <a:spcPts val="0"/>
              </a:spcBef>
              <a:spcAft>
                <a:spcPts val="0"/>
              </a:spcAft>
              <a:buSzPts val="1300"/>
              <a:buChar char="●"/>
            </a:pPr>
            <a:r>
              <a:rPr lang="en-GB"/>
              <a:t> Gap Analysis</a:t>
            </a:r>
            <a:endParaRPr/>
          </a:p>
          <a:p>
            <a:pPr indent="-311150" lvl="0" marL="457200" rtl="0" algn="l">
              <a:lnSpc>
                <a:spcPct val="115000"/>
              </a:lnSpc>
              <a:spcBef>
                <a:spcPts val="0"/>
              </a:spcBef>
              <a:spcAft>
                <a:spcPts val="0"/>
              </a:spcAft>
              <a:buSzPts val="1300"/>
              <a:buChar char="●"/>
            </a:pPr>
            <a:r>
              <a:rPr lang="en-GB"/>
              <a:t> Objectives</a:t>
            </a:r>
            <a:endParaRPr/>
          </a:p>
          <a:p>
            <a:pPr indent="-311150" lvl="0" marL="457200" rtl="0" algn="l">
              <a:lnSpc>
                <a:spcPct val="115000"/>
              </a:lnSpc>
              <a:spcBef>
                <a:spcPts val="0"/>
              </a:spcBef>
              <a:spcAft>
                <a:spcPts val="0"/>
              </a:spcAft>
              <a:buSzPts val="1300"/>
              <a:buChar char="●"/>
            </a:pPr>
            <a:r>
              <a:rPr lang="en-GB"/>
              <a:t> Problem Statement</a:t>
            </a:r>
            <a:endParaRPr/>
          </a:p>
          <a:p>
            <a:pPr indent="-311150" lvl="0" marL="457200" rtl="0" algn="l">
              <a:lnSpc>
                <a:spcPct val="115000"/>
              </a:lnSpc>
              <a:spcBef>
                <a:spcPts val="0"/>
              </a:spcBef>
              <a:spcAft>
                <a:spcPts val="0"/>
              </a:spcAft>
              <a:buSzPts val="1300"/>
              <a:buChar char="●"/>
            </a:pPr>
            <a:r>
              <a:rPr lang="en-GB"/>
              <a:t> System Architecture</a:t>
            </a:r>
            <a:endParaRPr/>
          </a:p>
          <a:p>
            <a:pPr indent="-311150" lvl="0" marL="457200" rtl="0" algn="l">
              <a:lnSpc>
                <a:spcPct val="115000"/>
              </a:lnSpc>
              <a:spcBef>
                <a:spcPts val="0"/>
              </a:spcBef>
              <a:spcAft>
                <a:spcPts val="0"/>
              </a:spcAft>
              <a:buSzPts val="1300"/>
              <a:buChar char="●"/>
            </a:pPr>
            <a:r>
              <a:rPr lang="en-GB"/>
              <a:t> Data Flow Diagrams</a:t>
            </a:r>
            <a:endParaRPr/>
          </a:p>
          <a:p>
            <a:pPr indent="-311150" lvl="0" marL="457200" rtl="0" algn="l">
              <a:lnSpc>
                <a:spcPct val="115000"/>
              </a:lnSpc>
              <a:spcBef>
                <a:spcPts val="0"/>
              </a:spcBef>
              <a:spcAft>
                <a:spcPts val="0"/>
              </a:spcAft>
              <a:buSzPts val="1300"/>
              <a:buChar char="●"/>
            </a:pPr>
            <a:r>
              <a:rPr lang="en-GB"/>
              <a:t> Algorithm</a:t>
            </a:r>
            <a:endParaRPr/>
          </a:p>
          <a:p>
            <a:pPr indent="-311150" lvl="0" marL="457200" rtl="0" algn="l">
              <a:lnSpc>
                <a:spcPct val="115000"/>
              </a:lnSpc>
              <a:spcBef>
                <a:spcPts val="0"/>
              </a:spcBef>
              <a:spcAft>
                <a:spcPts val="0"/>
              </a:spcAft>
              <a:buSzPts val="1300"/>
              <a:buChar char="●"/>
            </a:pPr>
            <a:r>
              <a:rPr lang="en-GB"/>
              <a:t> System Implementation</a:t>
            </a:r>
            <a:endParaRPr/>
          </a:p>
          <a:p>
            <a:pPr indent="-311150" lvl="0" marL="457200" rtl="0" algn="l">
              <a:lnSpc>
                <a:spcPct val="115000"/>
              </a:lnSpc>
              <a:spcBef>
                <a:spcPts val="0"/>
              </a:spcBef>
              <a:spcAft>
                <a:spcPts val="0"/>
              </a:spcAft>
              <a:buSzPts val="1300"/>
              <a:buChar char="●"/>
            </a:pPr>
            <a:r>
              <a:rPr lang="en-GB"/>
              <a:t> User Interface</a:t>
            </a:r>
            <a:endParaRPr/>
          </a:p>
          <a:p>
            <a:pPr indent="-311150" lvl="0" marL="457200" rtl="0" algn="l">
              <a:lnSpc>
                <a:spcPct val="115000"/>
              </a:lnSpc>
              <a:spcBef>
                <a:spcPts val="0"/>
              </a:spcBef>
              <a:spcAft>
                <a:spcPts val="0"/>
              </a:spcAft>
              <a:buSzPts val="1300"/>
              <a:buChar char="●"/>
            </a:pPr>
            <a:r>
              <a:rPr lang="en-GB"/>
              <a:t> Conclusion</a:t>
            </a:r>
            <a:endParaRPr/>
          </a:p>
          <a:p>
            <a:pPr indent="-311150" lvl="0" marL="457200" rtl="0" algn="l">
              <a:lnSpc>
                <a:spcPct val="115000"/>
              </a:lnSpc>
              <a:spcBef>
                <a:spcPts val="0"/>
              </a:spcBef>
              <a:spcAft>
                <a:spcPts val="0"/>
              </a:spcAft>
              <a:buSzPts val="1300"/>
              <a:buChar char="●"/>
            </a:pPr>
            <a:r>
              <a:rPr lang="en-GB"/>
              <a:t> Future Scope</a:t>
            </a:r>
            <a:endParaRPr/>
          </a:p>
          <a:p>
            <a:pPr indent="-311150" lvl="0" marL="457200" rtl="0" algn="l">
              <a:lnSpc>
                <a:spcPct val="115000"/>
              </a:lnSpc>
              <a:spcBef>
                <a:spcPts val="0"/>
              </a:spcBef>
              <a:spcAft>
                <a:spcPts val="0"/>
              </a:spcAft>
              <a:buSzPts val="1300"/>
              <a:buChar char="●"/>
            </a:pPr>
            <a:r>
              <a:rPr lang="en-GB"/>
              <a:t> Bibliography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rgbClr val="000000"/>
              </a:buClr>
              <a:buSzPts val="2800"/>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1. </a:t>
            </a:r>
            <a:r>
              <a:rPr lang="en-GB"/>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txBox="1"/>
          <p:nvPr>
            <p:ph type="title"/>
          </p:nvPr>
        </p:nvSpPr>
        <p:spPr>
          <a:xfrm>
            <a:off x="1108775" y="934875"/>
            <a:ext cx="77235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Alzheimer’s Disease</a:t>
            </a:r>
            <a:endParaRPr/>
          </a:p>
        </p:txBody>
      </p:sp>
      <p:sp>
        <p:nvSpPr>
          <p:cNvPr id="160" name="Google Shape;160;p5"/>
          <p:cNvSpPr txBox="1"/>
          <p:nvPr>
            <p:ph idx="1" type="body"/>
          </p:nvPr>
        </p:nvSpPr>
        <p:spPr>
          <a:xfrm>
            <a:off x="311700" y="1806350"/>
            <a:ext cx="5178900" cy="276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300"/>
              <a:buNone/>
            </a:pPr>
            <a:r>
              <a:rPr lang="en-GB" sz="2200">
                <a:latin typeface="Arial"/>
                <a:ea typeface="Arial"/>
                <a:cs typeface="Arial"/>
                <a:sym typeface="Arial"/>
              </a:rPr>
              <a:t>Alzheimer's disease is a progressive neurologic disorder that causes the brain to shrink (atrophy) and brain cells to die. Alzheimer's disease is the most common cause of dementia. Alzheimer’s causes problems with memory, thinking and behavior.</a:t>
            </a:r>
            <a:endParaRPr sz="2200">
              <a:latin typeface="Arial"/>
              <a:ea typeface="Arial"/>
              <a:cs typeface="Arial"/>
              <a:sym typeface="Arial"/>
            </a:endParaRPr>
          </a:p>
        </p:txBody>
      </p:sp>
      <p:pic>
        <p:nvPicPr>
          <p:cNvPr id="161" name="Google Shape;161;p5"/>
          <p:cNvPicPr preferRelativeResize="0"/>
          <p:nvPr/>
        </p:nvPicPr>
        <p:blipFill rotWithShape="1">
          <a:blip r:embed="rId3">
            <a:alphaModFix/>
          </a:blip>
          <a:srcRect b="0" l="0" r="0" t="0"/>
          <a:stretch/>
        </p:blipFill>
        <p:spPr>
          <a:xfrm>
            <a:off x="5847100" y="1925300"/>
            <a:ext cx="2609850" cy="1752600"/>
          </a:xfrm>
          <a:prstGeom prst="rect">
            <a:avLst/>
          </a:prstGeom>
          <a:noFill/>
          <a:ln>
            <a:noFill/>
          </a:ln>
          <a:effectLst>
            <a:reflection blurRad="0" dir="5400000" dist="38100" endA="0" endPos="30000" fadeDir="5400012" kx="0" rotWithShape="0" algn="bl" stPos="0" sy="-100000" ky="0"/>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Risk Factors For Alzheimer’s</a:t>
            </a:r>
            <a:endParaRPr/>
          </a:p>
        </p:txBody>
      </p:sp>
      <p:sp>
        <p:nvSpPr>
          <p:cNvPr id="167" name="Google Shape;167;p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SzPts val="2100"/>
              <a:buFont typeface="Arial"/>
              <a:buChar char="●"/>
            </a:pPr>
            <a:r>
              <a:rPr lang="en-GB" sz="2100">
                <a:latin typeface="Arial"/>
                <a:ea typeface="Arial"/>
                <a:cs typeface="Arial"/>
                <a:sym typeface="Arial"/>
              </a:rPr>
              <a:t>Age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GB" sz="2100">
                <a:latin typeface="Arial"/>
                <a:ea typeface="Arial"/>
                <a:cs typeface="Arial"/>
                <a:sym typeface="Arial"/>
              </a:rPr>
              <a:t>Family Members with Alzheimer’s / Genetics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GB" sz="2100">
                <a:latin typeface="Arial"/>
                <a:ea typeface="Arial"/>
                <a:cs typeface="Arial"/>
                <a:sym typeface="Arial"/>
              </a:rPr>
              <a:t>Mild Cognitive Impairment (MCI)</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GB" sz="2100">
                <a:latin typeface="Arial"/>
                <a:ea typeface="Arial"/>
                <a:cs typeface="Arial"/>
                <a:sym typeface="Arial"/>
              </a:rPr>
              <a:t>Cardiovascular Disease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GB" sz="2100">
                <a:latin typeface="Arial"/>
                <a:ea typeface="Arial"/>
                <a:cs typeface="Arial"/>
                <a:sym typeface="Arial"/>
              </a:rPr>
              <a:t>Education and Alzheimer’s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GB" sz="2100">
                <a:latin typeface="Arial"/>
                <a:ea typeface="Arial"/>
                <a:cs typeface="Arial"/>
                <a:sym typeface="Arial"/>
              </a:rPr>
              <a:t>Traumatic Brain Injury</a:t>
            </a:r>
            <a:endParaRPr sz="21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7"/>
          <p:cNvPicPr preferRelativeResize="0"/>
          <p:nvPr/>
        </p:nvPicPr>
        <p:blipFill rotWithShape="1">
          <a:blip r:embed="rId3">
            <a:alphaModFix/>
          </a:blip>
          <a:srcRect b="0" l="0" r="0" t="0"/>
          <a:stretch/>
        </p:blipFill>
        <p:spPr>
          <a:xfrm>
            <a:off x="779000" y="1510400"/>
            <a:ext cx="7586025" cy="1939000"/>
          </a:xfrm>
          <a:prstGeom prst="rect">
            <a:avLst/>
          </a:prstGeom>
          <a:noFill/>
          <a:ln>
            <a:noFill/>
          </a:ln>
        </p:spPr>
      </p:pic>
      <p:sp>
        <p:nvSpPr>
          <p:cNvPr id="173" name="Google Shape;173;p7"/>
          <p:cNvSpPr txBox="1"/>
          <p:nvPr/>
        </p:nvSpPr>
        <p:spPr>
          <a:xfrm>
            <a:off x="779000" y="3664744"/>
            <a:ext cx="17645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Earliest Alzheimer's</a:t>
            </a:r>
            <a:endParaRPr/>
          </a:p>
        </p:txBody>
      </p:sp>
      <p:sp>
        <p:nvSpPr>
          <p:cNvPr id="174" name="Google Shape;174;p7"/>
          <p:cNvSpPr txBox="1"/>
          <p:nvPr/>
        </p:nvSpPr>
        <p:spPr>
          <a:xfrm>
            <a:off x="3557589" y="3664744"/>
            <a:ext cx="176450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Mild to moderate Alzheimer's stages</a:t>
            </a:r>
            <a:endParaRPr b="0" i="0" sz="1400" u="none" cap="none" strike="noStrike">
              <a:solidFill>
                <a:schemeClr val="lt1"/>
              </a:solidFill>
              <a:latin typeface="Arial"/>
              <a:ea typeface="Arial"/>
              <a:cs typeface="Arial"/>
              <a:sym typeface="Arial"/>
            </a:endParaRPr>
          </a:p>
        </p:txBody>
      </p:sp>
      <p:sp>
        <p:nvSpPr>
          <p:cNvPr id="175" name="Google Shape;175;p7"/>
          <p:cNvSpPr txBox="1"/>
          <p:nvPr/>
        </p:nvSpPr>
        <p:spPr>
          <a:xfrm>
            <a:off x="6629400" y="3772465"/>
            <a:ext cx="1735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Severe Alzheimer's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2. LITERATURE SURVEY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aphicFrame>
        <p:nvGraphicFramePr>
          <p:cNvPr id="185" name="Google Shape;185;p9"/>
          <p:cNvGraphicFramePr/>
          <p:nvPr/>
        </p:nvGraphicFramePr>
        <p:xfrm>
          <a:off x="111700" y="710945"/>
          <a:ext cx="3000000" cy="3000000"/>
        </p:xfrm>
        <a:graphic>
          <a:graphicData uri="http://schemas.openxmlformats.org/drawingml/2006/table">
            <a:tbl>
              <a:tblPr>
                <a:noFill/>
                <a:tableStyleId>{32606B10-4E3B-47CF-9BD7-C86DE20F6734}</a:tableStyleId>
              </a:tblPr>
              <a:tblGrid>
                <a:gridCol w="1006225"/>
                <a:gridCol w="1189100"/>
                <a:gridCol w="2027575"/>
                <a:gridCol w="1669025"/>
                <a:gridCol w="1676500"/>
                <a:gridCol w="1352175"/>
              </a:tblGrid>
              <a:tr h="798100">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Authors</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Title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Methodology</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Dataset</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Scope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Evaluation Parameters</a:t>
                      </a:r>
                      <a:endParaRPr sz="1600" u="none" cap="none" strike="noStrike">
                        <a:solidFill>
                          <a:schemeClr val="lt1"/>
                        </a:solidFill>
                      </a:endParaRPr>
                    </a:p>
                  </a:txBody>
                  <a:tcPr marT="91425" marB="91425" marR="91425" marL="91425" anchor="ctr"/>
                </a:tc>
              </a:tr>
              <a:tr h="2082075">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C.Kavitha, Vinodini Mani, S.R Sri Vidhya, Osmah Ibrahim, Carlos Andres</a:t>
                      </a:r>
                      <a:endParaRPr sz="1600" u="none" cap="none" strike="noStrike">
                        <a:solidFill>
                          <a:schemeClr val="lt1"/>
                        </a:solidFill>
                      </a:endParaRPr>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solidFill>
                          <a:schemeClr val="lt1"/>
                        </a:solidFill>
                      </a:endParaRPr>
                    </a:p>
                  </a:txBody>
                  <a:tcPr marT="91425" marB="91425" marR="91425" marL="91425"/>
                </a:tc>
                <a:tc>
                  <a:txBody>
                    <a:bodyPr/>
                    <a:lstStyle/>
                    <a:p>
                      <a:pPr indent="0" lvl="0" marL="0" marR="0" rtl="0" algn="l">
                        <a:lnSpc>
                          <a:spcPct val="125000"/>
                        </a:lnSpc>
                        <a:spcBef>
                          <a:spcPts val="0"/>
                        </a:spcBef>
                        <a:spcAft>
                          <a:spcPts val="0"/>
                        </a:spcAft>
                        <a:buClr>
                          <a:schemeClr val="dk1"/>
                        </a:buClr>
                        <a:buSzPts val="1100"/>
                        <a:buFont typeface="Arial"/>
                        <a:buNone/>
                      </a:pPr>
                      <a:r>
                        <a:rPr lang="en-GB" sz="1400" u="none" cap="none" strike="noStrike">
                          <a:solidFill>
                            <a:schemeClr val="lt1"/>
                          </a:solidFill>
                        </a:rPr>
                        <a:t>Early-Stage Alzheimer's Disease Prediction Using Machine Learning Models</a:t>
                      </a:r>
                      <a:endParaRPr sz="1600" u="none" cap="none" strike="noStrike">
                        <a:solidFill>
                          <a:schemeClr val="lt1"/>
                        </a:solidFill>
                      </a:endParaRPr>
                    </a:p>
                    <a:p>
                      <a:pPr indent="0" lvl="0" marL="0" marR="0" rtl="0" algn="l">
                        <a:lnSpc>
                          <a:spcPct val="100000"/>
                        </a:lnSpc>
                        <a:spcBef>
                          <a:spcPts val="1000"/>
                        </a:spcBef>
                        <a:spcAft>
                          <a:spcPts val="0"/>
                        </a:spcAft>
                        <a:buClr>
                          <a:schemeClr val="dk1"/>
                        </a:buClr>
                        <a:buSzPts val="1100"/>
                        <a:buFont typeface="Arial"/>
                        <a:buNone/>
                      </a:pPr>
                      <a:r>
                        <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The Alzheimer disease predictions using various machine learning algorithms to effectively distinguish the affected individuals with high degree of efficiency and speed.</a:t>
                      </a:r>
                      <a:endParaRPr sz="1400" u="none" cap="none" strike="noStrike">
                        <a:solidFill>
                          <a:schemeClr val="lt1"/>
                        </a:solidFill>
                      </a:endParaRPr>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OASIS Dataset, Kaggle Dataset</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The future work will focus on the extraction and analysis of new features that will be more likely to aid in the detection of Alzheimer's Disease.</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Accuracy</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Precision</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Recall</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F1 score</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confusion matrix</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p10"/>
          <p:cNvGraphicFramePr/>
          <p:nvPr/>
        </p:nvGraphicFramePr>
        <p:xfrm>
          <a:off x="111699" y="520471"/>
          <a:ext cx="3000000" cy="3000000"/>
        </p:xfrm>
        <a:graphic>
          <a:graphicData uri="http://schemas.openxmlformats.org/drawingml/2006/table">
            <a:tbl>
              <a:tblPr>
                <a:noFill/>
                <a:tableStyleId>{32606B10-4E3B-47CF-9BD7-C86DE20F6734}</a:tableStyleId>
              </a:tblPr>
              <a:tblGrid>
                <a:gridCol w="982425"/>
                <a:gridCol w="1091850"/>
                <a:gridCol w="2086900"/>
                <a:gridCol w="1484975"/>
                <a:gridCol w="1943100"/>
                <a:gridCol w="1331350"/>
              </a:tblGrid>
              <a:tr h="838950">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Authors</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Title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Methodology</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Dataset</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Scope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Evaluation Parameters</a:t>
                      </a:r>
                      <a:endParaRPr sz="1600" u="none" cap="none" strike="noStrike">
                        <a:solidFill>
                          <a:schemeClr val="lt1"/>
                        </a:solidFill>
                      </a:endParaRPr>
                    </a:p>
                  </a:txBody>
                  <a:tcPr marT="91425" marB="91425" marR="91425" marL="91425" anchor="ctr"/>
                </a:tc>
              </a:tr>
              <a:tr h="2898250">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Dan Pan, An Zeng, Longfei Jia,Yin Huang,Tory Frizzell and Xiaowei Song</a:t>
                      </a:r>
                      <a:endParaRPr sz="16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Early Detection of Alzheimer’s Disease Using Magnetic Resonance Imaging.</a:t>
                      </a:r>
                      <a:endParaRPr sz="16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In order to achieve two objectives with a deep learning approach, CNN and EL were combined and applied to most commonly acquired anatomical brain MRIs: classification of AD and MCIc vs. HC, and MCIc vs. MCInc and identification of AD-related complex change patterns.</a:t>
                      </a:r>
                      <a:endParaRPr sz="16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lt1"/>
                          </a:solidFill>
                        </a:rPr>
                        <a:t>ADNI Dataset</a:t>
                      </a:r>
                      <a:endParaRPr sz="16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It is also possible to detecting other brain diseases such as Parkinson’s disease, autism, schizophrenia and severe depression, other little-known brain disorders.</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Accuracy </a:t>
                      </a:r>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Standard deviation</a:t>
                      </a:r>
                      <a:endParaRPr sz="1400" u="none" cap="none" strike="noStrike">
                        <a:solidFill>
                          <a:schemeClr val="lt1"/>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aphicFrame>
        <p:nvGraphicFramePr>
          <p:cNvPr id="195" name="Google Shape;195;p11"/>
          <p:cNvGraphicFramePr/>
          <p:nvPr/>
        </p:nvGraphicFramePr>
        <p:xfrm>
          <a:off x="111700" y="535844"/>
          <a:ext cx="3000000" cy="3000000"/>
        </p:xfrm>
        <a:graphic>
          <a:graphicData uri="http://schemas.openxmlformats.org/drawingml/2006/table">
            <a:tbl>
              <a:tblPr>
                <a:noFill/>
                <a:tableStyleId>{32606B10-4E3B-47CF-9BD7-C86DE20F6734}</a:tableStyleId>
              </a:tblPr>
              <a:tblGrid>
                <a:gridCol w="1006225"/>
                <a:gridCol w="1075250"/>
                <a:gridCol w="2141425"/>
                <a:gridCol w="1773300"/>
                <a:gridCol w="1572225"/>
                <a:gridCol w="1352175"/>
              </a:tblGrid>
              <a:tr h="798100">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Authors</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Title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Methodology</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Dataset</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Scope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Evaluation Parameters</a:t>
                      </a:r>
                      <a:endParaRPr sz="1600" u="none" cap="none" strike="noStrike">
                        <a:solidFill>
                          <a:schemeClr val="lt1"/>
                        </a:solidFill>
                      </a:endParaRPr>
                    </a:p>
                  </a:txBody>
                  <a:tcPr marT="91425" marB="91425" marR="91425" marL="91425" anchor="ctr"/>
                </a:tc>
              </a:tr>
              <a:tr h="208207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Vasco Sá Diogo, </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Hugo Alexandre Ferreira &amp; </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Diana Prata</a:t>
                      </a:r>
                      <a:endParaRPr sz="1400" u="none" cap="none" strike="noStrike">
                        <a:solidFill>
                          <a:schemeClr val="lt1"/>
                        </a:solidFill>
                      </a:endParaRPr>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Early diagnosis of Alzheimer’s disease using machine learning: a multi-diagnostic, generalizable approach</a:t>
                      </a:r>
                      <a:endParaRPr sz="1400" u="none" cap="none" strike="noStrike">
                        <a:solidFill>
                          <a:schemeClr val="lt1"/>
                        </a:solidFill>
                      </a:endParaRPr>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A study performed on structural changes in the brain for early detection of AD. The proposed method for multi-diagnostic classification of HC, MCI, and AD is an ensemble of 3 binary classifiers using L-SVM, RF, EF, LDA, LR, LR-SGD, MCC, CV, SD methods and techniques.</a:t>
                      </a:r>
                      <a:endParaRPr sz="16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ADNI: MPRAGE Dataset</a:t>
                      </a:r>
                      <a:endParaRPr/>
                    </a:p>
                    <a:p>
                      <a:pPr indent="0" lvl="0" marL="0" marR="0" rtl="0" algn="l">
                        <a:lnSpc>
                          <a:spcPct val="100000"/>
                        </a:lnSpc>
                        <a:spcBef>
                          <a:spcPts val="800"/>
                        </a:spcBef>
                        <a:spcAft>
                          <a:spcPts val="0"/>
                        </a:spcAft>
                        <a:buClr>
                          <a:schemeClr val="dk1"/>
                        </a:buClr>
                        <a:buSzPts val="1100"/>
                        <a:buFont typeface="Arial"/>
                        <a:buNone/>
                      </a:pPr>
                      <a:r>
                        <a:rPr lang="en-GB" sz="1400" u="none" cap="none" strike="noStrike">
                          <a:solidFill>
                            <a:schemeClr val="lt1"/>
                          </a:solidFill>
                        </a:rPr>
                        <a:t>OASIS Dataset</a:t>
                      </a:r>
                      <a:endParaRPr/>
                    </a:p>
                    <a:p>
                      <a:pPr indent="0" lvl="0" marL="0" marR="0" rtl="0" algn="l">
                        <a:lnSpc>
                          <a:spcPct val="100000"/>
                        </a:lnSpc>
                        <a:spcBef>
                          <a:spcPts val="800"/>
                        </a:spcBef>
                        <a:spcAft>
                          <a:spcPts val="0"/>
                        </a:spcAft>
                        <a:buClr>
                          <a:schemeClr val="dk1"/>
                        </a:buClr>
                        <a:buSzPts val="1100"/>
                        <a:buFont typeface="Arial"/>
                        <a:buNone/>
                      </a:pPr>
                      <a:r>
                        <a:rPr lang="en-GB" sz="1400" u="none" cap="none" strike="noStrike">
                          <a:solidFill>
                            <a:schemeClr val="lt1"/>
                          </a:solidFill>
                        </a:rPr>
                        <a:t>IR-SPGR Dataset</a:t>
                      </a:r>
                      <a:endParaRPr/>
                    </a:p>
                    <a:p>
                      <a:pPr indent="0" lvl="0" marL="0" marR="0" rtl="0" algn="l">
                        <a:lnSpc>
                          <a:spcPct val="100000"/>
                        </a:lnSpc>
                        <a:spcBef>
                          <a:spcPts val="800"/>
                        </a:spcBef>
                        <a:spcAft>
                          <a:spcPts val="0"/>
                        </a:spcAft>
                        <a:buClr>
                          <a:schemeClr val="dk1"/>
                        </a:buClr>
                        <a:buSzPts val="1100"/>
                        <a:buFont typeface="Arial"/>
                        <a:buNone/>
                      </a:pPr>
                      <a:r>
                        <a:t/>
                      </a:r>
                      <a:endParaRPr sz="16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The classifiers did not make use of cognitive features or scores, which could be of high predictive value and can be easily acquired.</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Matthew’s correlation coefficient(MCC), Area under the receiver operating characteristic curve(AUC), Balanced</a:t>
                      </a:r>
                      <a:endParaRPr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accuracy(BAC), ROI</a:t>
                      </a:r>
                      <a:endParaRPr sz="1400" u="none" cap="none" strike="noStrike">
                        <a:solidFill>
                          <a:schemeClr val="lt1"/>
                        </a:solidFill>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aphicFrame>
        <p:nvGraphicFramePr>
          <p:cNvPr id="200" name="Google Shape;200;p12"/>
          <p:cNvGraphicFramePr/>
          <p:nvPr/>
        </p:nvGraphicFramePr>
        <p:xfrm>
          <a:off x="115975" y="291690"/>
          <a:ext cx="3000000" cy="3000000"/>
        </p:xfrm>
        <a:graphic>
          <a:graphicData uri="http://schemas.openxmlformats.org/drawingml/2006/table">
            <a:tbl>
              <a:tblPr>
                <a:noFill/>
                <a:tableStyleId>{32606B10-4E3B-47CF-9BD7-C86DE20F6734}</a:tableStyleId>
              </a:tblPr>
              <a:tblGrid>
                <a:gridCol w="948400"/>
                <a:gridCol w="1279375"/>
                <a:gridCol w="2096825"/>
                <a:gridCol w="1574475"/>
                <a:gridCol w="1607350"/>
                <a:gridCol w="1414200"/>
              </a:tblGrid>
              <a:tr h="729350">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Authors</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Title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Methodology</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Dataset</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Scope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Evaluation Parameters</a:t>
                      </a:r>
                      <a:endParaRPr sz="1600" u="none" cap="none" strike="noStrike">
                        <a:solidFill>
                          <a:schemeClr val="lt1"/>
                        </a:solidFill>
                      </a:endParaRPr>
                    </a:p>
                  </a:txBody>
                  <a:tcPr marT="91425" marB="91425" marR="91425" marL="91425" anchor="ctr"/>
                </a:tc>
              </a:tr>
              <a:tr h="3680075">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Carol Y cheung, An Ran Ran, Shujun Wang, Victor TT Chan, Kaiser Sham, Saima hilal</a:t>
                      </a:r>
                      <a:endParaRPr sz="1600" u="none" cap="none" strike="noStrike">
                        <a:solidFill>
                          <a:schemeClr val="lt1"/>
                        </a:solidFill>
                      </a:endParaRPr>
                    </a:p>
                  </a:txBody>
                  <a:tcPr marT="91425" marB="91425" marR="91425" marL="91425"/>
                </a:tc>
                <a:tc>
                  <a:txBody>
                    <a:bodyPr/>
                    <a:lstStyle/>
                    <a:p>
                      <a:pPr indent="0" lvl="0" marL="0" marR="0" rtl="0" algn="l">
                        <a:lnSpc>
                          <a:spcPct val="125000"/>
                        </a:lnSpc>
                        <a:spcBef>
                          <a:spcPts val="0"/>
                        </a:spcBef>
                        <a:spcAft>
                          <a:spcPts val="0"/>
                        </a:spcAft>
                        <a:buClr>
                          <a:srgbClr val="000000"/>
                        </a:buClr>
                        <a:buSzPts val="1400"/>
                        <a:buFont typeface="Arial"/>
                        <a:buNone/>
                      </a:pPr>
                      <a:r>
                        <a:rPr lang="en-GB" sz="1400" u="none" cap="none" strike="noStrike">
                          <a:solidFill>
                            <a:schemeClr val="lt1"/>
                          </a:solidFill>
                        </a:rPr>
                        <a:t>A deep learning model for detection of Alzheimer's disease based on retinal photographs: retrospective, multicentre case-control study</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A retinal photograph-based deep learning algorithm using unsupervised domain adaptation is used to detect Alzheimer's disease in individuals.Deep learning algorithms proved consistently accurate at distinguishing between Alzheimer's disease-dementia and unaffected individuals.</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Private Dataset</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Alzheimer's disease research might explore any increments in sensitivity and specificity when combining retinal photography with blood-based biomarkers, such as brain amyloid.</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Accuracy, Sensitivity, Specificity, AUROC</a:t>
                      </a:r>
                      <a:endParaRPr sz="1400" u="none" cap="none" strike="noStrike">
                        <a:solidFill>
                          <a:schemeClr val="lt1"/>
                        </a:solidFill>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aphicFrame>
        <p:nvGraphicFramePr>
          <p:cNvPr id="205" name="Google Shape;205;p13"/>
          <p:cNvGraphicFramePr/>
          <p:nvPr/>
        </p:nvGraphicFramePr>
        <p:xfrm>
          <a:off x="115975" y="572141"/>
          <a:ext cx="3000000" cy="3000000"/>
        </p:xfrm>
        <a:graphic>
          <a:graphicData uri="http://schemas.openxmlformats.org/drawingml/2006/table">
            <a:tbl>
              <a:tblPr>
                <a:noFill/>
                <a:tableStyleId>{32606B10-4E3B-47CF-9BD7-C86DE20F6734}</a:tableStyleId>
              </a:tblPr>
              <a:tblGrid>
                <a:gridCol w="1208550"/>
                <a:gridCol w="1262075"/>
                <a:gridCol w="2159325"/>
                <a:gridCol w="940500"/>
                <a:gridCol w="1857375"/>
                <a:gridCol w="1492775"/>
              </a:tblGrid>
              <a:tr h="620250">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Authors</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Title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Methodology</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Dataset</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Scope</a:t>
                      </a:r>
                      <a:endParaRPr sz="16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GB" sz="1600" u="none" cap="none" strike="noStrike">
                          <a:solidFill>
                            <a:schemeClr val="lt1"/>
                          </a:solidFill>
                        </a:rPr>
                        <a:t>Evaluation Parameters</a:t>
                      </a:r>
                      <a:endParaRPr sz="1600" u="none" cap="none" strike="noStrike">
                        <a:solidFill>
                          <a:schemeClr val="lt1"/>
                        </a:solidFill>
                      </a:endParaRPr>
                    </a:p>
                  </a:txBody>
                  <a:tcPr marT="91425" marB="91425" marR="91425" marL="91425" anchor="ctr"/>
                </a:tc>
              </a:tr>
              <a:tr h="36831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lt1"/>
                          </a:solidFill>
                        </a:rPr>
                        <a:t>Weiming lin, Tong Tong,</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lt1"/>
                          </a:solidFill>
                        </a:rPr>
                        <a:t>Qinquan Gao, Di Guo, </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lt1"/>
                          </a:solidFill>
                        </a:rPr>
                        <a:t>Xiaofeng Du, Yonngui Yang,</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lt1"/>
                          </a:solidFill>
                        </a:rPr>
                        <a:t>Gang Guo, Min Xiao, Min Du, Xiaobo Qu</a:t>
                      </a:r>
                      <a:endParaRPr sz="1600" u="none" cap="none" strike="noStrike">
                        <a:solidFill>
                          <a:schemeClr val="lt1"/>
                        </a:solidFill>
                      </a:endParaRPr>
                    </a:p>
                  </a:txBody>
                  <a:tcPr marT="91425" marB="91425" marR="91425" marL="91425"/>
                </a:tc>
                <a:tc>
                  <a:txBody>
                    <a:bodyPr/>
                    <a:lstStyle/>
                    <a:p>
                      <a:pPr indent="0" lvl="0" marL="0" marR="0" rtl="0" algn="l">
                        <a:lnSpc>
                          <a:spcPct val="125000"/>
                        </a:lnSpc>
                        <a:spcBef>
                          <a:spcPts val="0"/>
                        </a:spcBef>
                        <a:spcAft>
                          <a:spcPts val="0"/>
                        </a:spcAft>
                        <a:buClr>
                          <a:srgbClr val="000000"/>
                        </a:buClr>
                        <a:buSzPts val="1400"/>
                        <a:buFont typeface="Arial"/>
                        <a:buNone/>
                      </a:pPr>
                      <a:r>
                        <a:rPr lang="en-GB" sz="1400" u="none" cap="none" strike="noStrike">
                          <a:solidFill>
                            <a:schemeClr val="lt1"/>
                          </a:solidFill>
                        </a:rPr>
                        <a:t>Convolutional Neural Networks-Based MRI Image Analysis for the Alzheimer's Disease Prediction From Mild Cognitive Impairment</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A framework developed using MRI images to predict MCI-to-AD by applying CNN and other machine learning algorithm. The FreeSurfer was used to mine more morphological information of MRI images, such as cortical volume, surface area, cortical thickness average, and standard deviation of thickness in each region of interest.</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lt1"/>
                          </a:solidFill>
                        </a:rPr>
                        <a:t>ADNI Dataset</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 The period of predicting conversion was set to 3 years, which separates MCI subjects from those who do not convert to AD. Our future work would investigate the usage of CNN in modelling the progression of AD.</a:t>
                      </a:r>
                      <a:endParaRPr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Accuracy. </a:t>
                      </a:r>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Standard deviation.</a:t>
                      </a:r>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lt1"/>
                          </a:solidFill>
                        </a:rPr>
                        <a:t>Confidential interval.</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3. MOTIVATION FOR PROJECT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5"/>
          <p:cNvSpPr txBox="1"/>
          <p:nvPr>
            <p:ph type="title"/>
          </p:nvPr>
        </p:nvSpPr>
        <p:spPr>
          <a:xfrm>
            <a:off x="1077686" y="627017"/>
            <a:ext cx="6637869" cy="4147457"/>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48148"/>
              <a:buNone/>
            </a:pPr>
            <a:r>
              <a:rPr i="0" lang="en-GB" sz="2100">
                <a:latin typeface="Arial"/>
                <a:ea typeface="Arial"/>
                <a:cs typeface="Arial"/>
                <a:sym typeface="Arial"/>
              </a:rPr>
              <a:t>1.</a:t>
            </a:r>
            <a:r>
              <a:rPr i="0" lang="en-GB" sz="2100">
                <a:latin typeface="Arial"/>
                <a:ea typeface="Arial"/>
                <a:cs typeface="Arial"/>
                <a:sym typeface="Arial"/>
              </a:rPr>
              <a:t> </a:t>
            </a:r>
            <a:r>
              <a:rPr lang="en-GB" sz="2100">
                <a:latin typeface="Arial"/>
                <a:ea typeface="Arial"/>
                <a:cs typeface="Arial"/>
                <a:sym typeface="Arial"/>
              </a:rPr>
              <a:t>Alzheimer's disease was described in 1906. It has taken a century for scientists to understand how Alzheimer's affects the brain and to learn how to improve the quality of life for sufferers.</a:t>
            </a:r>
            <a:br>
              <a:rPr i="0" lang="en-GB" sz="2100">
                <a:latin typeface="Arial"/>
                <a:ea typeface="Arial"/>
                <a:cs typeface="Arial"/>
                <a:sym typeface="Arial"/>
              </a:rPr>
            </a:br>
            <a:br>
              <a:rPr i="0" lang="en-GB" sz="2100">
                <a:latin typeface="Arial"/>
                <a:ea typeface="Arial"/>
                <a:cs typeface="Arial"/>
                <a:sym typeface="Arial"/>
              </a:rPr>
            </a:br>
            <a:r>
              <a:rPr i="0" lang="en-GB" sz="2100">
                <a:latin typeface="Arial"/>
                <a:ea typeface="Arial"/>
                <a:cs typeface="Arial"/>
                <a:sym typeface="Arial"/>
              </a:rPr>
              <a:t>2. It is a deadly disease and no permanent cure is invented.</a:t>
            </a:r>
            <a:br>
              <a:rPr i="0" lang="en-GB" sz="2100">
                <a:latin typeface="Arial"/>
                <a:ea typeface="Arial"/>
                <a:cs typeface="Arial"/>
                <a:sym typeface="Arial"/>
              </a:rPr>
            </a:br>
            <a:br>
              <a:rPr i="0" lang="en-GB" sz="2100">
                <a:latin typeface="Arial"/>
                <a:ea typeface="Arial"/>
                <a:cs typeface="Arial"/>
                <a:sym typeface="Arial"/>
              </a:rPr>
            </a:br>
            <a:r>
              <a:rPr i="0" lang="en-GB" sz="2100">
                <a:latin typeface="Arial"/>
                <a:ea typeface="Arial"/>
                <a:cs typeface="Arial"/>
                <a:sym typeface="Arial"/>
              </a:rPr>
              <a:t>3. Most symptoms are common so it is hard to identify.</a:t>
            </a:r>
            <a:br>
              <a:rPr i="0" lang="en-GB" sz="2100">
                <a:latin typeface="Arial"/>
                <a:ea typeface="Arial"/>
                <a:cs typeface="Arial"/>
                <a:sym typeface="Arial"/>
              </a:rPr>
            </a:br>
            <a:br>
              <a:rPr i="0" lang="en-GB" sz="2100">
                <a:latin typeface="Arial"/>
                <a:ea typeface="Arial"/>
                <a:cs typeface="Arial"/>
                <a:sym typeface="Arial"/>
              </a:rPr>
            </a:br>
            <a:r>
              <a:rPr i="0" lang="en-GB" sz="2100">
                <a:latin typeface="Arial"/>
                <a:ea typeface="Arial"/>
                <a:cs typeface="Arial"/>
                <a:sym typeface="Arial"/>
              </a:rPr>
              <a:t>4. Numerous Risk Factors.</a:t>
            </a:r>
            <a:br>
              <a:rPr i="0" lang="en-GB" sz="2100">
                <a:latin typeface="Arial"/>
                <a:ea typeface="Arial"/>
                <a:cs typeface="Arial"/>
                <a:sym typeface="Arial"/>
              </a:rPr>
            </a:br>
            <a:br>
              <a:rPr b="0" i="0" lang="en-GB">
                <a:solidFill>
                  <a:srgbClr val="BDC1C6"/>
                </a:solidFill>
                <a:latin typeface="arial"/>
                <a:ea typeface="arial"/>
                <a:cs typeface="arial"/>
                <a:sym typeface="arial"/>
              </a:rPr>
            </a:b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6"/>
          <p:cNvSpPr txBox="1"/>
          <p:nvPr>
            <p:ph type="title"/>
          </p:nvPr>
        </p:nvSpPr>
        <p:spPr>
          <a:xfrm>
            <a:off x="311700" y="771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Dementia in men and women with age progression</a:t>
            </a:r>
            <a:endParaRPr/>
          </a:p>
        </p:txBody>
      </p:sp>
      <p:sp>
        <p:nvSpPr>
          <p:cNvPr id="221" name="Google Shape;221;p1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222" name="Google Shape;222;p16"/>
          <p:cNvPicPr preferRelativeResize="0"/>
          <p:nvPr/>
        </p:nvPicPr>
        <p:blipFill rotWithShape="1">
          <a:blip r:embed="rId3">
            <a:alphaModFix/>
          </a:blip>
          <a:srcRect b="0" l="0" r="0" t="0"/>
          <a:stretch/>
        </p:blipFill>
        <p:spPr>
          <a:xfrm>
            <a:off x="181175" y="713275"/>
            <a:ext cx="8830724" cy="44302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7"/>
          <p:cNvSpPr txBox="1"/>
          <p:nvPr>
            <p:ph type="title"/>
          </p:nvPr>
        </p:nvSpPr>
        <p:spPr>
          <a:xfrm>
            <a:off x="1369425" y="2396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GB" sz="2200"/>
              <a:t>Country-wise prevalence of Dementia (&gt;1 million)</a:t>
            </a:r>
            <a:endParaRPr sz="2200"/>
          </a:p>
        </p:txBody>
      </p:sp>
      <p:sp>
        <p:nvSpPr>
          <p:cNvPr id="228" name="Google Shape;228;p17"/>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229" name="Google Shape;229;p17"/>
          <p:cNvPicPr preferRelativeResize="0"/>
          <p:nvPr/>
        </p:nvPicPr>
        <p:blipFill rotWithShape="1">
          <a:blip r:embed="rId3">
            <a:alphaModFix/>
          </a:blip>
          <a:srcRect b="0" l="0" r="0" t="0"/>
          <a:stretch/>
        </p:blipFill>
        <p:spPr>
          <a:xfrm>
            <a:off x="0" y="1017725"/>
            <a:ext cx="9144000" cy="400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ph type="title"/>
          </p:nvPr>
        </p:nvSpPr>
        <p:spPr>
          <a:xfrm>
            <a:off x="782775" y="190915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4. GAP ANALYSIS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9"/>
          <p:cNvSpPr txBox="1"/>
          <p:nvPr>
            <p:ph idx="1" type="body"/>
          </p:nvPr>
        </p:nvSpPr>
        <p:spPr>
          <a:xfrm>
            <a:off x="291275" y="1289225"/>
            <a:ext cx="8588100" cy="3221400"/>
          </a:xfrm>
          <a:prstGeom prst="rect">
            <a:avLst/>
          </a:prstGeom>
          <a:noFill/>
          <a:ln>
            <a:noFill/>
          </a:ln>
        </p:spPr>
        <p:txBody>
          <a:bodyPr anchorCtr="0" anchor="t" bIns="91425" lIns="91425" spcFirstLastPara="1" rIns="91425" wrap="square" tIns="91425">
            <a:noAutofit/>
          </a:bodyPr>
          <a:lstStyle/>
          <a:p>
            <a:pPr indent="-361950" lvl="0" marL="457200" rtl="0" algn="just">
              <a:lnSpc>
                <a:spcPct val="95000"/>
              </a:lnSpc>
              <a:spcBef>
                <a:spcPts val="0"/>
              </a:spcBef>
              <a:spcAft>
                <a:spcPts val="0"/>
              </a:spcAft>
              <a:buSzPts val="2100"/>
              <a:buFont typeface="Arial"/>
              <a:buChar char="●"/>
            </a:pPr>
            <a:r>
              <a:rPr lang="en-GB" sz="2100">
                <a:latin typeface="Arial"/>
                <a:ea typeface="Arial"/>
                <a:cs typeface="Arial"/>
                <a:sym typeface="Arial"/>
              </a:rPr>
              <a:t>Proposed research focuses on binary detection rather than Categorical classification.</a:t>
            </a:r>
            <a:endParaRPr sz="2100">
              <a:latin typeface="Arial"/>
              <a:ea typeface="Arial"/>
              <a:cs typeface="Arial"/>
              <a:sym typeface="Arial"/>
            </a:endParaRPr>
          </a:p>
          <a:p>
            <a:pPr indent="0" lvl="0" marL="457200" rtl="0" algn="just">
              <a:lnSpc>
                <a:spcPct val="95000"/>
              </a:lnSpc>
              <a:spcBef>
                <a:spcPts val="0"/>
              </a:spcBef>
              <a:spcAft>
                <a:spcPts val="0"/>
              </a:spcAft>
              <a:buNone/>
            </a:pPr>
            <a:r>
              <a:t/>
            </a:r>
            <a:endParaRPr sz="2100">
              <a:latin typeface="Arial"/>
              <a:ea typeface="Arial"/>
              <a:cs typeface="Arial"/>
              <a:sym typeface="Arial"/>
            </a:endParaRPr>
          </a:p>
          <a:p>
            <a:pPr indent="-361950" lvl="0" marL="457200" rtl="0" algn="just">
              <a:lnSpc>
                <a:spcPct val="95000"/>
              </a:lnSpc>
              <a:spcBef>
                <a:spcPts val="0"/>
              </a:spcBef>
              <a:spcAft>
                <a:spcPts val="0"/>
              </a:spcAft>
              <a:buSzPts val="2100"/>
              <a:buFont typeface="Arial"/>
              <a:buChar char="●"/>
            </a:pPr>
            <a:r>
              <a:rPr lang="en-GB" sz="2100">
                <a:latin typeface="Arial"/>
                <a:ea typeface="Arial"/>
                <a:cs typeface="Arial"/>
                <a:sym typeface="Arial"/>
              </a:rPr>
              <a:t>The focus is on Alzheimer's disease detection in individuals over 60+ age, whereas early detection can lead to better treatment outcomes.</a:t>
            </a:r>
            <a:endParaRPr/>
          </a:p>
          <a:p>
            <a:pPr indent="0" lvl="0" marL="95250" rtl="0" algn="just">
              <a:lnSpc>
                <a:spcPct val="95000"/>
              </a:lnSpc>
              <a:spcBef>
                <a:spcPts val="0"/>
              </a:spcBef>
              <a:spcAft>
                <a:spcPts val="0"/>
              </a:spcAft>
              <a:buSzPts val="2100"/>
              <a:buNone/>
            </a:pPr>
            <a:r>
              <a:t/>
            </a:r>
            <a:endParaRPr sz="900">
              <a:latin typeface="Arial"/>
              <a:ea typeface="Arial"/>
              <a:cs typeface="Arial"/>
              <a:sym typeface="Arial"/>
            </a:endParaRPr>
          </a:p>
          <a:p>
            <a:pPr indent="-361950" lvl="0" marL="457200" rtl="0" algn="just">
              <a:lnSpc>
                <a:spcPct val="95000"/>
              </a:lnSpc>
              <a:spcBef>
                <a:spcPts val="0"/>
              </a:spcBef>
              <a:spcAft>
                <a:spcPts val="0"/>
              </a:spcAft>
              <a:buSzPts val="2100"/>
              <a:buFont typeface="Arial"/>
              <a:buChar char="●"/>
            </a:pPr>
            <a:r>
              <a:rPr lang="en-GB" sz="2100">
                <a:latin typeface="Arial"/>
                <a:ea typeface="Arial"/>
                <a:cs typeface="Arial"/>
                <a:sym typeface="Arial"/>
              </a:rPr>
              <a:t>In most datasets, genetic based Alzheimer disease accounts for between 40-50%, whereas unbiased data is more accurate.</a:t>
            </a:r>
            <a:endParaRPr sz="2100">
              <a:latin typeface="Arial"/>
              <a:ea typeface="Arial"/>
              <a:cs typeface="Arial"/>
              <a:sym typeface="Arial"/>
            </a:endParaRPr>
          </a:p>
          <a:p>
            <a:pPr indent="0" lvl="0" marL="0" rtl="0" algn="l">
              <a:lnSpc>
                <a:spcPct val="95000"/>
              </a:lnSpc>
              <a:spcBef>
                <a:spcPts val="1200"/>
              </a:spcBef>
              <a:spcAft>
                <a:spcPts val="0"/>
              </a:spcAft>
              <a:buSzPts val="275"/>
              <a:buNone/>
            </a:pPr>
            <a:r>
              <a:t/>
            </a:r>
            <a:endParaRPr sz="2100">
              <a:latin typeface="Arial"/>
              <a:ea typeface="Arial"/>
              <a:cs typeface="Arial"/>
              <a:sym typeface="Arial"/>
            </a:endParaRPr>
          </a:p>
          <a:p>
            <a:pPr indent="0" lvl="0" marL="0" rtl="0" algn="l">
              <a:lnSpc>
                <a:spcPct val="95000"/>
              </a:lnSpc>
              <a:spcBef>
                <a:spcPts val="1200"/>
              </a:spcBef>
              <a:spcAft>
                <a:spcPts val="0"/>
              </a:spcAft>
              <a:buSzPts val="275"/>
              <a:buNone/>
            </a:pPr>
            <a:r>
              <a:t/>
            </a:r>
            <a:endParaRPr sz="2100">
              <a:latin typeface="Arial"/>
              <a:ea typeface="Arial"/>
              <a:cs typeface="Arial"/>
              <a:sym typeface="Arial"/>
            </a:endParaRPr>
          </a:p>
          <a:p>
            <a:pPr indent="0" lvl="0" marL="0" rtl="0" algn="l">
              <a:lnSpc>
                <a:spcPct val="95000"/>
              </a:lnSpc>
              <a:spcBef>
                <a:spcPts val="1200"/>
              </a:spcBef>
              <a:spcAft>
                <a:spcPts val="1200"/>
              </a:spcAft>
              <a:buSzPts val="275"/>
              <a:buNone/>
            </a:pPr>
            <a:r>
              <a:t/>
            </a:r>
            <a:endParaRPr sz="21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5. OBJECTIVES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nvSpPr>
        <p:spPr>
          <a:xfrm>
            <a:off x="372950" y="1024675"/>
            <a:ext cx="8549100" cy="3465534"/>
          </a:xfrm>
          <a:prstGeom prst="rect">
            <a:avLst/>
          </a:prstGeom>
          <a:noFill/>
          <a:ln>
            <a:noFill/>
          </a:ln>
        </p:spPr>
        <p:txBody>
          <a:bodyPr anchorCtr="0" anchor="t" bIns="91425" lIns="91425" spcFirstLastPara="1" rIns="91425" wrap="square" tIns="91425">
            <a:spAutoFit/>
          </a:bodyPr>
          <a:lstStyle/>
          <a:p>
            <a:pPr indent="-361950" lvl="0" marL="457200" marR="0" rtl="0" algn="l">
              <a:lnSpc>
                <a:spcPct val="115000"/>
              </a:lnSpc>
              <a:spcBef>
                <a:spcPts val="0"/>
              </a:spcBef>
              <a:spcAft>
                <a:spcPts val="0"/>
              </a:spcAft>
              <a:buClr>
                <a:schemeClr val="lt1"/>
              </a:buClr>
              <a:buSzPts val="2100"/>
              <a:buFont typeface="Arial"/>
              <a:buChar char="●"/>
            </a:pPr>
            <a:r>
              <a:rPr b="0" i="0" lang="en-GB" sz="2100" u="none" cap="none" strike="noStrike">
                <a:solidFill>
                  <a:schemeClr val="lt1"/>
                </a:solidFill>
                <a:latin typeface="Arial"/>
                <a:ea typeface="Arial"/>
                <a:cs typeface="Arial"/>
                <a:sym typeface="Arial"/>
              </a:rPr>
              <a:t>Improve the early diagnosis of Alzheimer disease, and make it less time consuming that gives a better chance of treatment.</a:t>
            </a:r>
            <a:endParaRPr b="0" i="0" sz="2100" u="none" cap="none" strike="noStrike">
              <a:solidFill>
                <a:schemeClr val="lt1"/>
              </a:solidFill>
              <a:latin typeface="Arial"/>
              <a:ea typeface="Arial"/>
              <a:cs typeface="Arial"/>
              <a:sym typeface="Arial"/>
            </a:endParaRPr>
          </a:p>
          <a:p>
            <a:pPr indent="-361950" lvl="0" marL="457200" marR="0" rtl="0" algn="l">
              <a:lnSpc>
                <a:spcPct val="115000"/>
              </a:lnSpc>
              <a:spcBef>
                <a:spcPts val="0"/>
              </a:spcBef>
              <a:spcAft>
                <a:spcPts val="0"/>
              </a:spcAft>
              <a:buClr>
                <a:schemeClr val="lt1"/>
              </a:buClr>
              <a:buSzPts val="2100"/>
              <a:buFont typeface="Arial"/>
              <a:buChar char="●"/>
            </a:pPr>
            <a:r>
              <a:rPr b="0" i="0" lang="en-GB" sz="2100" u="none" cap="none" strike="noStrike">
                <a:solidFill>
                  <a:schemeClr val="lt1"/>
                </a:solidFill>
                <a:latin typeface="Arial"/>
                <a:ea typeface="Arial"/>
                <a:cs typeface="Arial"/>
                <a:sym typeface="Arial"/>
              </a:rPr>
              <a:t>Developing intervention to delay or prevent the one set of Alzheimer disease.</a:t>
            </a:r>
            <a:endParaRPr/>
          </a:p>
          <a:p>
            <a:pPr indent="-361950" lvl="0" marL="457200" marR="0" rtl="0" algn="l">
              <a:lnSpc>
                <a:spcPct val="115000"/>
              </a:lnSpc>
              <a:spcBef>
                <a:spcPts val="0"/>
              </a:spcBef>
              <a:spcAft>
                <a:spcPts val="0"/>
              </a:spcAft>
              <a:buClr>
                <a:schemeClr val="lt1"/>
              </a:buClr>
              <a:buSzPts val="2100"/>
              <a:buFont typeface="Arial"/>
              <a:buChar char="●"/>
            </a:pPr>
            <a:r>
              <a:rPr b="0" i="0" lang="en-GB" sz="2100" u="none" cap="none" strike="noStrike">
                <a:solidFill>
                  <a:schemeClr val="lt1"/>
                </a:solidFill>
                <a:latin typeface="Arial"/>
                <a:ea typeface="Arial"/>
                <a:cs typeface="Arial"/>
                <a:sym typeface="Arial"/>
              </a:rPr>
              <a:t>Usage of various deep learning algorithms instead of only using traditional ML methods.</a:t>
            </a:r>
            <a:endParaRPr b="0" i="0" sz="2100" u="none" cap="none" strike="noStrike">
              <a:solidFill>
                <a:schemeClr val="lt1"/>
              </a:solidFill>
              <a:latin typeface="Arial"/>
              <a:ea typeface="Arial"/>
              <a:cs typeface="Arial"/>
              <a:sym typeface="Arial"/>
            </a:endParaRPr>
          </a:p>
          <a:p>
            <a:pPr indent="-361950" lvl="0" marL="457200" marR="0" rtl="0" algn="l">
              <a:lnSpc>
                <a:spcPct val="115000"/>
              </a:lnSpc>
              <a:spcBef>
                <a:spcPts val="0"/>
              </a:spcBef>
              <a:spcAft>
                <a:spcPts val="0"/>
              </a:spcAft>
              <a:buClr>
                <a:schemeClr val="lt1"/>
              </a:buClr>
              <a:buSzPts val="2100"/>
              <a:buFont typeface="Arial"/>
              <a:buChar char="●"/>
            </a:pPr>
            <a:r>
              <a:rPr b="0" i="0" lang="en-GB" sz="2100" u="none" cap="none" strike="noStrike">
                <a:solidFill>
                  <a:schemeClr val="lt1"/>
                </a:solidFill>
                <a:latin typeface="Arial"/>
                <a:ea typeface="Arial"/>
                <a:cs typeface="Arial"/>
                <a:sym typeface="Arial"/>
              </a:rPr>
              <a:t>Robust and Accurate classification can be achieved.</a:t>
            </a:r>
            <a:endParaRPr b="0" i="0" sz="2100" u="none" cap="none" strike="noStrike">
              <a:solidFill>
                <a:schemeClr val="lt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2"/>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6. PROBLEM STATEMENT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idx="1" type="body"/>
          </p:nvPr>
        </p:nvSpPr>
        <p:spPr>
          <a:xfrm>
            <a:off x="1290400" y="1692750"/>
            <a:ext cx="6049200" cy="17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300"/>
              <a:buNone/>
            </a:pPr>
            <a:r>
              <a:rPr lang="en-GB" sz="2100">
                <a:latin typeface="Arial"/>
                <a:ea typeface="Arial"/>
                <a:cs typeface="Arial"/>
                <a:sym typeface="Arial"/>
              </a:rPr>
              <a:t>A Deep Learning method for Early detection of Alzheimer’s disease using Deep </a:t>
            </a:r>
            <a:r>
              <a:rPr lang="en-GB" sz="2100">
                <a:latin typeface="Arial"/>
                <a:ea typeface="Arial"/>
                <a:cs typeface="Arial"/>
                <a:sym typeface="Arial"/>
              </a:rPr>
              <a:t>Convolutional</a:t>
            </a:r>
            <a:r>
              <a:rPr lang="en-GB" sz="2100">
                <a:latin typeface="Arial"/>
                <a:ea typeface="Arial"/>
                <a:cs typeface="Arial"/>
                <a:sym typeface="Arial"/>
              </a:rPr>
              <a:t> </a:t>
            </a:r>
            <a:r>
              <a:rPr lang="en-GB" sz="2100">
                <a:latin typeface="Arial"/>
                <a:ea typeface="Arial"/>
                <a:cs typeface="Arial"/>
                <a:sym typeface="Arial"/>
              </a:rPr>
              <a:t>N</a:t>
            </a:r>
            <a:r>
              <a:rPr lang="en-GB" sz="2100">
                <a:latin typeface="Arial"/>
                <a:ea typeface="Arial"/>
                <a:cs typeface="Arial"/>
                <a:sym typeface="Arial"/>
              </a:rPr>
              <a:t>eural Networks models using Transfer learning Methodology.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7. SYSTEM ARCHITECTURE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5"/>
          <p:cNvPicPr preferRelativeResize="0"/>
          <p:nvPr/>
        </p:nvPicPr>
        <p:blipFill>
          <a:blip r:embed="rId3">
            <a:alphaModFix/>
          </a:blip>
          <a:stretch>
            <a:fillRect/>
          </a:stretch>
        </p:blipFill>
        <p:spPr>
          <a:xfrm>
            <a:off x="270138" y="152400"/>
            <a:ext cx="8603724" cy="4838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        System Architecture Components</a:t>
            </a:r>
            <a:endParaRPr/>
          </a:p>
        </p:txBody>
      </p:sp>
      <p:sp>
        <p:nvSpPr>
          <p:cNvPr id="275" name="Google Shape;275;p26"/>
          <p:cNvSpPr txBox="1"/>
          <p:nvPr>
            <p:ph idx="1" type="body"/>
          </p:nvPr>
        </p:nvSpPr>
        <p:spPr>
          <a:xfrm>
            <a:off x="1297500" y="1260572"/>
            <a:ext cx="7038900" cy="3063233"/>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Data collection</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Data pre-processing</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Pre-trained model</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Feature extraction</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Building model</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Training model</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Train model evaluation</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Test model evaluation</a:t>
            </a:r>
            <a:endParaRPr/>
          </a:p>
          <a:p>
            <a:pPr indent="-228600" lvl="0" marL="457200" rtl="0" algn="l">
              <a:lnSpc>
                <a:spcPct val="115000"/>
              </a:lnSpc>
              <a:spcBef>
                <a:spcPts val="0"/>
              </a:spcBef>
              <a:spcAft>
                <a:spcPts val="0"/>
              </a:spcAft>
              <a:buSzPts val="1300"/>
              <a:buNone/>
            </a:pPr>
            <a:r>
              <a:t/>
            </a:r>
            <a:endParaRPr sz="2000">
              <a:latin typeface="Arial"/>
              <a:ea typeface="Arial"/>
              <a:cs typeface="Arial"/>
              <a:sym typeface="Arial"/>
            </a:endParaRPr>
          </a:p>
          <a:p>
            <a:pPr indent="-228600" lvl="0" marL="457200" rtl="0" algn="l">
              <a:lnSpc>
                <a:spcPct val="115000"/>
              </a:lnSpc>
              <a:spcBef>
                <a:spcPts val="0"/>
              </a:spcBef>
              <a:spcAft>
                <a:spcPts val="0"/>
              </a:spcAft>
              <a:buSzPts val="1300"/>
              <a:buNone/>
            </a:pPr>
            <a:r>
              <a:t/>
            </a:r>
            <a:endParaRPr sz="2000">
              <a:latin typeface="Arial"/>
              <a:ea typeface="Arial"/>
              <a:cs typeface="Arial"/>
              <a:sym typeface="Arial"/>
            </a:endParaRPr>
          </a:p>
          <a:p>
            <a:pPr indent="-228600" lvl="0" marL="457200" rtl="0" algn="l">
              <a:lnSpc>
                <a:spcPct val="115000"/>
              </a:lnSpc>
              <a:spcBef>
                <a:spcPts val="0"/>
              </a:spcBef>
              <a:spcAft>
                <a:spcPts val="0"/>
              </a:spcAft>
              <a:buSzPts val="1300"/>
              <a:buNone/>
            </a:pPr>
            <a:r>
              <a:t/>
            </a:r>
            <a:endParaRPr sz="2000">
              <a:latin typeface="Arial"/>
              <a:ea typeface="Arial"/>
              <a:cs typeface="Arial"/>
              <a:sym typeface="Arial"/>
            </a:endParaRPr>
          </a:p>
          <a:p>
            <a:pPr indent="-228600" lvl="0" marL="457200" rtl="0" algn="l">
              <a:lnSpc>
                <a:spcPct val="115000"/>
              </a:lnSpc>
              <a:spcBef>
                <a:spcPts val="0"/>
              </a:spcBef>
              <a:spcAft>
                <a:spcPts val="0"/>
              </a:spcAft>
              <a:buSzPts val="1300"/>
              <a:buNone/>
            </a:pPr>
            <a:r>
              <a:t/>
            </a:r>
            <a:endParaRPr sz="200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ph type="title"/>
          </p:nvPr>
        </p:nvSpPr>
        <p:spPr>
          <a:xfrm>
            <a:off x="909975" y="321300"/>
            <a:ext cx="7038900" cy="9141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GB"/>
              <a:t>Data Collection</a:t>
            </a:r>
            <a:endParaRPr/>
          </a:p>
        </p:txBody>
      </p:sp>
      <p:pic>
        <p:nvPicPr>
          <p:cNvPr id="281" name="Google Shape;281;p27"/>
          <p:cNvPicPr preferRelativeResize="0"/>
          <p:nvPr/>
        </p:nvPicPr>
        <p:blipFill>
          <a:blip r:embed="rId3">
            <a:alphaModFix/>
          </a:blip>
          <a:stretch>
            <a:fillRect/>
          </a:stretch>
        </p:blipFill>
        <p:spPr>
          <a:xfrm>
            <a:off x="1320013" y="1122975"/>
            <a:ext cx="6503979" cy="36032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GB"/>
              <a:t>Data Pre-processing </a:t>
            </a:r>
            <a:endParaRPr/>
          </a:p>
        </p:txBody>
      </p:sp>
      <p:sp>
        <p:nvSpPr>
          <p:cNvPr id="287" name="Google Shape;287;p28"/>
          <p:cNvSpPr txBox="1"/>
          <p:nvPr>
            <p:ph idx="1" type="body"/>
          </p:nvPr>
        </p:nvSpPr>
        <p:spPr>
          <a:xfrm>
            <a:off x="426400" y="1614300"/>
            <a:ext cx="6613200" cy="19149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Loading train split data.</a:t>
            </a:r>
            <a:endParaRPr sz="2000">
              <a:latin typeface="Arial"/>
              <a:ea typeface="Arial"/>
              <a:cs typeface="Arial"/>
              <a:sym typeface="Arial"/>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Image to array conversion and </a:t>
            </a:r>
            <a:r>
              <a:rPr lang="en-GB" sz="2000">
                <a:latin typeface="Arial"/>
                <a:ea typeface="Arial"/>
                <a:cs typeface="Arial"/>
                <a:sym typeface="Arial"/>
              </a:rPr>
              <a:t>randomizing</a:t>
            </a:r>
            <a:r>
              <a:rPr lang="en-GB" sz="2000">
                <a:latin typeface="Arial"/>
                <a:ea typeface="Arial"/>
                <a:cs typeface="Arial"/>
                <a:sym typeface="Arial"/>
              </a:rPr>
              <a:t> data.</a:t>
            </a:r>
            <a:endParaRPr sz="2000">
              <a:latin typeface="Arial"/>
              <a:ea typeface="Arial"/>
              <a:cs typeface="Arial"/>
              <a:sym typeface="Arial"/>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Creation </a:t>
            </a:r>
            <a:r>
              <a:rPr lang="en-GB" sz="2000">
                <a:latin typeface="Arial"/>
                <a:ea typeface="Arial"/>
                <a:cs typeface="Arial"/>
                <a:sym typeface="Arial"/>
              </a:rPr>
              <a:t>of Training and validation datasets (80:20). </a:t>
            </a:r>
            <a:endParaRPr sz="2000">
              <a:latin typeface="Arial"/>
              <a:ea typeface="Arial"/>
              <a:cs typeface="Arial"/>
              <a:sym typeface="Arial"/>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Conversion of labels into encoders.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GB"/>
              <a:t>Pre-Trained Model</a:t>
            </a:r>
            <a:endParaRPr/>
          </a:p>
        </p:txBody>
      </p:sp>
      <p:sp>
        <p:nvSpPr>
          <p:cNvPr id="293" name="Google Shape;293;p29"/>
          <p:cNvSpPr txBox="1"/>
          <p:nvPr>
            <p:ph idx="1" type="body"/>
          </p:nvPr>
        </p:nvSpPr>
        <p:spPr>
          <a:xfrm>
            <a:off x="508975" y="1562525"/>
            <a:ext cx="7629300" cy="2411700"/>
          </a:xfrm>
          <a:prstGeom prst="rect">
            <a:avLst/>
          </a:prstGeom>
          <a:noFill/>
          <a:ln>
            <a:noFill/>
          </a:ln>
        </p:spPr>
        <p:txBody>
          <a:bodyPr anchorCtr="0" anchor="t" bIns="91425" lIns="91425" spcFirstLastPara="1" rIns="91425" wrap="square" tIns="91425">
            <a:normAutofit fontScale="85000" lnSpcReduction="20000"/>
          </a:bodyPr>
          <a:lstStyle/>
          <a:p>
            <a:pPr indent="0" lvl="0" marL="457200" rtl="0" algn="l">
              <a:lnSpc>
                <a:spcPct val="115000"/>
              </a:lnSpc>
              <a:spcBef>
                <a:spcPts val="0"/>
              </a:spcBef>
              <a:spcAft>
                <a:spcPts val="0"/>
              </a:spcAft>
              <a:buNone/>
            </a:pPr>
            <a:r>
              <a:t/>
            </a:r>
            <a:endParaRPr sz="1500">
              <a:latin typeface="Arial"/>
              <a:ea typeface="Arial"/>
              <a:cs typeface="Arial"/>
              <a:sym typeface="Arial"/>
            </a:endParaRPr>
          </a:p>
          <a:p>
            <a:pPr indent="-332980" lvl="0" marL="457200" rtl="0" algn="l">
              <a:lnSpc>
                <a:spcPct val="115000"/>
              </a:lnSpc>
              <a:spcBef>
                <a:spcPts val="0"/>
              </a:spcBef>
              <a:spcAft>
                <a:spcPts val="0"/>
              </a:spcAft>
              <a:buSzPct val="90627"/>
              <a:buChar char="●"/>
            </a:pPr>
            <a:r>
              <a:rPr lang="en-GB" sz="2133">
                <a:latin typeface="Arial"/>
                <a:ea typeface="Arial"/>
                <a:cs typeface="Arial"/>
                <a:sym typeface="Arial"/>
              </a:rPr>
              <a:t>DenseNet-169 is one of the architectures of the DenseNet family with 169 layers and is a widely used architecture for DL classification tasks. </a:t>
            </a:r>
            <a:endParaRPr sz="2133">
              <a:latin typeface="Arial"/>
              <a:ea typeface="Arial"/>
              <a:cs typeface="Arial"/>
              <a:sym typeface="Arial"/>
            </a:endParaRPr>
          </a:p>
          <a:p>
            <a:pPr indent="-343775" lvl="0" marL="457200" rtl="0" algn="l">
              <a:lnSpc>
                <a:spcPct val="115000"/>
              </a:lnSpc>
              <a:spcBef>
                <a:spcPts val="0"/>
              </a:spcBef>
              <a:spcAft>
                <a:spcPts val="0"/>
              </a:spcAft>
              <a:buSzPct val="100000"/>
              <a:buFont typeface="Arial"/>
              <a:buChar char="●"/>
            </a:pPr>
            <a:r>
              <a:rPr lang="en-GB" sz="2133">
                <a:latin typeface="Arial"/>
                <a:ea typeface="Arial"/>
                <a:cs typeface="Arial"/>
                <a:sym typeface="Arial"/>
              </a:rPr>
              <a:t>DenseNet-169 architecture have the ability to overcome the vanishing gradient problem. </a:t>
            </a:r>
            <a:endParaRPr sz="2133">
              <a:latin typeface="Arial"/>
              <a:ea typeface="Arial"/>
              <a:cs typeface="Arial"/>
              <a:sym typeface="Arial"/>
            </a:endParaRPr>
          </a:p>
          <a:p>
            <a:pPr indent="-331590" lvl="0" marL="457200" rtl="0" algn="l">
              <a:lnSpc>
                <a:spcPct val="115000"/>
              </a:lnSpc>
              <a:spcBef>
                <a:spcPts val="0"/>
              </a:spcBef>
              <a:spcAft>
                <a:spcPts val="0"/>
              </a:spcAft>
              <a:buSzPct val="89420"/>
              <a:buFont typeface="Arial"/>
              <a:buChar char="●"/>
            </a:pPr>
            <a:r>
              <a:rPr lang="en-GB" sz="2133">
                <a:latin typeface="Arial"/>
                <a:ea typeface="Arial"/>
                <a:cs typeface="Arial"/>
                <a:sym typeface="Arial"/>
              </a:rPr>
              <a:t>DenseNet models can be found in Tensorflow (Keras) and PyTorandes</a:t>
            </a:r>
            <a:r>
              <a:rPr lang="en-GB" sz="2025">
                <a:latin typeface="Arial"/>
                <a:ea typeface="Arial"/>
                <a:cs typeface="Arial"/>
                <a:sym typeface="Arial"/>
              </a:rPr>
              <a:t>. </a:t>
            </a:r>
            <a:endParaRPr sz="2025">
              <a:latin typeface="Arial"/>
              <a:ea typeface="Arial"/>
              <a:cs typeface="Arial"/>
              <a:sym typeface="Arial"/>
            </a:endParaRPr>
          </a:p>
          <a:p>
            <a:pPr indent="0" lvl="0" marL="457200" rtl="0" algn="l">
              <a:lnSpc>
                <a:spcPct val="115000"/>
              </a:lnSpc>
              <a:spcBef>
                <a:spcPts val="0"/>
              </a:spcBef>
              <a:spcAft>
                <a:spcPts val="0"/>
              </a:spcAft>
              <a:buNone/>
            </a:pPr>
            <a:r>
              <a:t/>
            </a:r>
            <a:endParaRPr sz="1617">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                          Building Model</a:t>
            </a:r>
            <a:endParaRPr/>
          </a:p>
        </p:txBody>
      </p:sp>
      <p:sp>
        <p:nvSpPr>
          <p:cNvPr id="299" name="Google Shape;299;p31"/>
          <p:cNvSpPr txBox="1"/>
          <p:nvPr>
            <p:ph idx="1" type="body"/>
          </p:nvPr>
        </p:nvSpPr>
        <p:spPr>
          <a:xfrm>
            <a:off x="1297500" y="1567550"/>
            <a:ext cx="7038900" cy="27615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lang="en-GB" sz="2000">
                <a:latin typeface="Arial"/>
                <a:ea typeface="Arial"/>
                <a:cs typeface="Arial"/>
                <a:sym typeface="Arial"/>
              </a:rPr>
              <a:t>Creation of sequential model to specify the network.</a:t>
            </a:r>
            <a:endParaRPr sz="19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GB" sz="2000">
                <a:latin typeface="Arial"/>
                <a:ea typeface="Arial"/>
                <a:cs typeface="Arial"/>
                <a:sym typeface="Arial"/>
              </a:rPr>
              <a:t>Dropouting of neural nodes to prevent </a:t>
            </a:r>
            <a:r>
              <a:rPr lang="en-GB" sz="2000">
                <a:latin typeface="Arial"/>
                <a:ea typeface="Arial"/>
                <a:cs typeface="Arial"/>
                <a:sym typeface="Arial"/>
              </a:rPr>
              <a:t>overfitting</a:t>
            </a:r>
            <a:r>
              <a:rPr lang="en-GB" sz="2000">
                <a:latin typeface="Arial"/>
                <a:ea typeface="Arial"/>
                <a:cs typeface="Arial"/>
                <a:sym typeface="Arial"/>
              </a:rPr>
              <a:t>.</a:t>
            </a:r>
            <a:endParaRPr/>
          </a:p>
          <a:p>
            <a:pPr indent="-323850" lvl="0" marL="457200" rtl="0" algn="l">
              <a:lnSpc>
                <a:spcPct val="115000"/>
              </a:lnSpc>
              <a:spcBef>
                <a:spcPts val="0"/>
              </a:spcBef>
              <a:spcAft>
                <a:spcPts val="0"/>
              </a:spcAft>
              <a:buSzPts val="1500"/>
              <a:buChar char="●"/>
            </a:pPr>
            <a:r>
              <a:rPr lang="en-GB" sz="2000">
                <a:latin typeface="Arial"/>
                <a:ea typeface="Arial"/>
                <a:cs typeface="Arial"/>
                <a:sym typeface="Arial"/>
              </a:rPr>
              <a:t>Batch n</a:t>
            </a:r>
            <a:r>
              <a:rPr lang="en-GB" sz="2000">
                <a:latin typeface="Arial"/>
                <a:ea typeface="Arial"/>
                <a:cs typeface="Arial"/>
                <a:sym typeface="Arial"/>
              </a:rPr>
              <a:t>ormalisation of deep neural networks (DNN) .</a:t>
            </a:r>
            <a:endParaRPr/>
          </a:p>
          <a:p>
            <a:pPr indent="-323850" lvl="0" marL="457200" rtl="0" algn="l">
              <a:lnSpc>
                <a:spcPct val="115000"/>
              </a:lnSpc>
              <a:spcBef>
                <a:spcPts val="0"/>
              </a:spcBef>
              <a:spcAft>
                <a:spcPts val="0"/>
              </a:spcAft>
              <a:buSzPts val="1500"/>
              <a:buChar char="●"/>
            </a:pPr>
            <a:r>
              <a:rPr lang="en-GB" sz="2000">
                <a:latin typeface="Arial"/>
                <a:ea typeface="Arial"/>
                <a:cs typeface="Arial"/>
                <a:sym typeface="Arial"/>
              </a:rPr>
              <a:t>Activation </a:t>
            </a:r>
            <a:r>
              <a:rPr lang="en-GB" sz="2000">
                <a:latin typeface="Arial"/>
                <a:ea typeface="Arial"/>
                <a:cs typeface="Arial"/>
                <a:sym typeface="Arial"/>
              </a:rPr>
              <a:t>layer with ReLU to detect features.</a:t>
            </a:r>
            <a:endParaRPr/>
          </a:p>
          <a:p>
            <a:pPr indent="-323850" lvl="0" marL="457200" rtl="0" algn="l">
              <a:lnSpc>
                <a:spcPct val="115000"/>
              </a:lnSpc>
              <a:spcBef>
                <a:spcPts val="0"/>
              </a:spcBef>
              <a:spcAft>
                <a:spcPts val="0"/>
              </a:spcAft>
              <a:buSzPts val="1500"/>
              <a:buChar char="●"/>
            </a:pPr>
            <a:r>
              <a:rPr lang="en-GB" sz="2000">
                <a:latin typeface="Arial"/>
                <a:ea typeface="Arial"/>
                <a:cs typeface="Arial"/>
                <a:sym typeface="Arial"/>
              </a:rPr>
              <a:t>Fully connected layer with softmax activation function to normalise the output.</a:t>
            </a:r>
            <a:endParaRPr/>
          </a:p>
          <a:p>
            <a:pPr indent="-228600" lvl="0" marL="457200" rtl="0" algn="l">
              <a:lnSpc>
                <a:spcPct val="115000"/>
              </a:lnSpc>
              <a:spcBef>
                <a:spcPts val="0"/>
              </a:spcBef>
              <a:spcAft>
                <a:spcPts val="0"/>
              </a:spcAft>
              <a:buSzPts val="1300"/>
              <a:buNone/>
            </a:pPr>
            <a:r>
              <a:t/>
            </a:r>
            <a:endParaRPr sz="2000">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                       Feature Extraction</a:t>
            </a:r>
            <a:endParaRPr/>
          </a:p>
        </p:txBody>
      </p:sp>
      <p:sp>
        <p:nvSpPr>
          <p:cNvPr id="305" name="Google Shape;305;p30"/>
          <p:cNvSpPr txBox="1"/>
          <p:nvPr>
            <p:ph idx="1" type="body"/>
          </p:nvPr>
        </p:nvSpPr>
        <p:spPr>
          <a:xfrm>
            <a:off x="768900" y="1603950"/>
            <a:ext cx="4573200" cy="1877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The feature map generation at each convolutional layer using feature detector called </a:t>
            </a:r>
            <a:r>
              <a:rPr lang="en-GB" sz="2000">
                <a:latin typeface="Arial"/>
                <a:ea typeface="Arial"/>
                <a:cs typeface="Arial"/>
                <a:sym typeface="Arial"/>
              </a:rPr>
              <a:t>Kernel</a:t>
            </a:r>
            <a:r>
              <a:rPr lang="en-GB" sz="2000">
                <a:latin typeface="Arial"/>
                <a:ea typeface="Arial"/>
                <a:cs typeface="Arial"/>
                <a:sym typeface="Arial"/>
              </a:rPr>
              <a:t>.</a:t>
            </a:r>
            <a:endParaRPr/>
          </a:p>
        </p:txBody>
      </p:sp>
      <p:pic>
        <p:nvPicPr>
          <p:cNvPr id="306" name="Google Shape;306;p30"/>
          <p:cNvPicPr preferRelativeResize="0"/>
          <p:nvPr/>
        </p:nvPicPr>
        <p:blipFill>
          <a:blip r:embed="rId3">
            <a:alphaModFix/>
          </a:blip>
          <a:stretch>
            <a:fillRect/>
          </a:stretch>
        </p:blipFill>
        <p:spPr>
          <a:xfrm>
            <a:off x="5878225" y="1484324"/>
            <a:ext cx="2458175" cy="24420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a:t>                         Training Model</a:t>
            </a:r>
            <a:endParaRPr/>
          </a:p>
        </p:txBody>
      </p:sp>
      <p:sp>
        <p:nvSpPr>
          <p:cNvPr id="312" name="Google Shape;312;p32"/>
          <p:cNvSpPr txBox="1"/>
          <p:nvPr>
            <p:ph idx="1" type="body"/>
          </p:nvPr>
        </p:nvSpPr>
        <p:spPr>
          <a:xfrm>
            <a:off x="1297500" y="1567549"/>
            <a:ext cx="7038900" cy="3010981"/>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Training on train dataset.</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Saving the best weights from different weights obtained.</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Reduce the value of learning rate if required.</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Implementation of checkpoints to save weights and reduce memory usage.</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Early stopping, when the performance stops improving.</a:t>
            </a:r>
            <a:endParaRPr/>
          </a:p>
          <a:p>
            <a:pPr indent="-228600" lvl="0" marL="457200" rtl="0" algn="l">
              <a:lnSpc>
                <a:spcPct val="115000"/>
              </a:lnSpc>
              <a:spcBef>
                <a:spcPts val="0"/>
              </a:spcBef>
              <a:spcAft>
                <a:spcPts val="0"/>
              </a:spcAft>
              <a:buSzPts val="1300"/>
              <a:buNone/>
            </a:pPr>
            <a:r>
              <a:t/>
            </a:r>
            <a:endParaRPr sz="2000">
              <a:latin typeface="Arial"/>
              <a:ea typeface="Arial"/>
              <a:cs typeface="Arial"/>
              <a:sym typeface="Arial"/>
            </a:endParaRPr>
          </a:p>
          <a:p>
            <a:pPr indent="-228600" lvl="0" marL="457200" rtl="0" algn="l">
              <a:lnSpc>
                <a:spcPct val="115000"/>
              </a:lnSpc>
              <a:spcBef>
                <a:spcPts val="0"/>
              </a:spcBef>
              <a:spcAft>
                <a:spcPts val="0"/>
              </a:spcAft>
              <a:buSzPts val="1300"/>
              <a:buNone/>
            </a:pPr>
            <a:r>
              <a:t/>
            </a:r>
            <a:endParaRPr sz="2000">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GB"/>
              <a:t>Model Evaluation</a:t>
            </a:r>
            <a:endParaRPr/>
          </a:p>
        </p:txBody>
      </p:sp>
      <p:sp>
        <p:nvSpPr>
          <p:cNvPr id="318" name="Google Shape;318;p33"/>
          <p:cNvSpPr txBox="1"/>
          <p:nvPr>
            <p:ph idx="1" type="body"/>
          </p:nvPr>
        </p:nvSpPr>
        <p:spPr>
          <a:xfrm>
            <a:off x="1297500" y="1554475"/>
            <a:ext cx="6373200" cy="29112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Using </a:t>
            </a:r>
            <a:r>
              <a:rPr lang="en-GB" sz="2000">
                <a:latin typeface="Arial"/>
                <a:ea typeface="Arial"/>
                <a:cs typeface="Arial"/>
                <a:sym typeface="Arial"/>
              </a:rPr>
              <a:t>Performance metrics such as Accuracy, Precision, Recall etc.</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Plot Loss and Accuracy values of training and validation data </a:t>
            </a:r>
            <a:r>
              <a:rPr lang="en-GB"/>
              <a:t> </a:t>
            </a:r>
            <a:r>
              <a:rPr lang="en-GB" sz="2000">
                <a:latin typeface="Arial"/>
                <a:ea typeface="Arial"/>
                <a:cs typeface="Arial"/>
                <a:sym typeface="Arial"/>
              </a:rPr>
              <a:t>are evaluated.</a:t>
            </a:r>
            <a:endParaRPr/>
          </a:p>
          <a:p>
            <a:pPr indent="0" lvl="0" marL="146050" rtl="0" algn="l">
              <a:lnSpc>
                <a:spcPct val="115000"/>
              </a:lnSpc>
              <a:spcBef>
                <a:spcPts val="0"/>
              </a:spcBef>
              <a:spcAft>
                <a:spcPts val="0"/>
              </a:spcAft>
              <a:buSzPts val="1300"/>
              <a:buNone/>
            </a:pPr>
            <a:r>
              <a:t/>
            </a:r>
            <a:endParaRPr sz="2000">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4"/>
          <p:cNvSpPr txBox="1"/>
          <p:nvPr>
            <p:ph type="title"/>
          </p:nvPr>
        </p:nvSpPr>
        <p:spPr>
          <a:xfrm>
            <a:off x="1297500" y="393750"/>
            <a:ext cx="7038900" cy="914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400"/>
              <a:buNone/>
            </a:pPr>
            <a:r>
              <a:rPr lang="en-GB"/>
              <a:t>Test Model Evaluation</a:t>
            </a:r>
            <a:endParaRPr/>
          </a:p>
        </p:txBody>
      </p:sp>
      <p:sp>
        <p:nvSpPr>
          <p:cNvPr id="324" name="Google Shape;324;p34"/>
          <p:cNvSpPr txBox="1"/>
          <p:nvPr>
            <p:ph idx="1" type="body"/>
          </p:nvPr>
        </p:nvSpPr>
        <p:spPr>
          <a:xfrm>
            <a:off x="1297500" y="1567550"/>
            <a:ext cx="6052500" cy="17277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Upload test image. </a:t>
            </a:r>
            <a:endParaRPr/>
          </a:p>
          <a:p>
            <a:pPr indent="-311150" lvl="0" marL="457200" rtl="0" algn="l">
              <a:lnSpc>
                <a:spcPct val="115000"/>
              </a:lnSpc>
              <a:spcBef>
                <a:spcPts val="0"/>
              </a:spcBef>
              <a:spcAft>
                <a:spcPts val="0"/>
              </a:spcAft>
              <a:buSzPts val="1300"/>
              <a:buChar char="●"/>
            </a:pPr>
            <a:r>
              <a:rPr lang="en-GB" sz="2000">
                <a:latin typeface="Arial"/>
                <a:ea typeface="Arial"/>
                <a:cs typeface="Arial"/>
                <a:sym typeface="Arial"/>
              </a:rPr>
              <a:t>Predicting stage of alzheimer’s with accuracy of classification.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22dc9114983_1_1"/>
          <p:cNvSpPr txBox="1"/>
          <p:nvPr>
            <p:ph idx="1" type="body"/>
          </p:nvPr>
        </p:nvSpPr>
        <p:spPr>
          <a:xfrm>
            <a:off x="686475" y="2144850"/>
            <a:ext cx="4276200" cy="1122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2800"/>
              <a:buFont typeface="Arial"/>
              <a:buNone/>
            </a:pPr>
            <a:r>
              <a:rPr lang="en-GB" sz="2800">
                <a:latin typeface="Montserrat"/>
                <a:ea typeface="Montserrat"/>
                <a:cs typeface="Montserrat"/>
                <a:sym typeface="Montserrat"/>
              </a:rPr>
              <a:t>8. DATA FLOW DIAGRAMS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g22dc9114983_1_6"/>
          <p:cNvPicPr preferRelativeResize="0"/>
          <p:nvPr/>
        </p:nvPicPr>
        <p:blipFill>
          <a:blip r:embed="rId3">
            <a:alphaModFix/>
          </a:blip>
          <a:stretch>
            <a:fillRect/>
          </a:stretch>
        </p:blipFill>
        <p:spPr>
          <a:xfrm>
            <a:off x="599800" y="1137800"/>
            <a:ext cx="7944402" cy="3322950"/>
          </a:xfrm>
          <a:prstGeom prst="rect">
            <a:avLst/>
          </a:prstGeom>
          <a:noFill/>
          <a:ln>
            <a:noFill/>
          </a:ln>
        </p:spPr>
      </p:pic>
      <p:sp>
        <p:nvSpPr>
          <p:cNvPr id="335" name="Google Shape;335;g22dc9114983_1_6"/>
          <p:cNvSpPr txBox="1"/>
          <p:nvPr/>
        </p:nvSpPr>
        <p:spPr>
          <a:xfrm>
            <a:off x="1704900" y="330150"/>
            <a:ext cx="57342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lt1"/>
                </a:solidFill>
              </a:rPr>
              <a:t>DATA FLOW DIAGRAM LEVEL 0</a:t>
            </a:r>
            <a:endParaRPr sz="2000">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22dc9114983_1_16"/>
          <p:cNvSpPr txBox="1"/>
          <p:nvPr/>
        </p:nvSpPr>
        <p:spPr>
          <a:xfrm>
            <a:off x="2507550" y="116075"/>
            <a:ext cx="4929600" cy="4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rPr>
              <a:t>DATA FLOW DIAGRAM LEVEL 1</a:t>
            </a:r>
            <a:endParaRPr sz="2000">
              <a:solidFill>
                <a:schemeClr val="lt1"/>
              </a:solidFill>
            </a:endParaRPr>
          </a:p>
        </p:txBody>
      </p:sp>
      <p:pic>
        <p:nvPicPr>
          <p:cNvPr id="341" name="Google Shape;341;g22dc9114983_1_16"/>
          <p:cNvPicPr preferRelativeResize="0"/>
          <p:nvPr/>
        </p:nvPicPr>
        <p:blipFill>
          <a:blip r:embed="rId3">
            <a:alphaModFix/>
          </a:blip>
          <a:stretch>
            <a:fillRect/>
          </a:stretch>
        </p:blipFill>
        <p:spPr>
          <a:xfrm>
            <a:off x="1120000" y="839250"/>
            <a:ext cx="7034451" cy="41212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5"/>
          <p:cNvSpPr txBox="1"/>
          <p:nvPr>
            <p:ph type="title"/>
          </p:nvPr>
        </p:nvSpPr>
        <p:spPr>
          <a:xfrm>
            <a:off x="6714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9. ALGORITHM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22dc9114983_0_0"/>
          <p:cNvSpPr txBox="1"/>
          <p:nvPr/>
        </p:nvSpPr>
        <p:spPr>
          <a:xfrm>
            <a:off x="962925" y="3534750"/>
            <a:ext cx="477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
        <p:nvSpPr>
          <p:cNvPr id="352" name="Google Shape;352;g22dc9114983_0_0"/>
          <p:cNvSpPr txBox="1"/>
          <p:nvPr/>
        </p:nvSpPr>
        <p:spPr>
          <a:xfrm>
            <a:off x="869800" y="1863750"/>
            <a:ext cx="69354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GB" sz="2000">
                <a:solidFill>
                  <a:schemeClr val="lt1"/>
                </a:solidFill>
              </a:rPr>
              <a:t>Input: MRI images of the Brain.</a:t>
            </a:r>
            <a:endParaRPr sz="2000">
              <a:solidFill>
                <a:schemeClr val="lt1"/>
              </a:solidFill>
            </a:endParaRPr>
          </a:p>
          <a:p>
            <a:pPr indent="0" lvl="0" marL="0" marR="0" rtl="0" algn="l">
              <a:lnSpc>
                <a:spcPct val="100000"/>
              </a:lnSpc>
              <a:spcBef>
                <a:spcPts val="0"/>
              </a:spcBef>
              <a:spcAft>
                <a:spcPts val="0"/>
              </a:spcAft>
              <a:buNone/>
            </a:pPr>
            <a:r>
              <a:t/>
            </a:r>
            <a:endParaRPr sz="2000">
              <a:solidFill>
                <a:schemeClr val="lt1"/>
              </a:solidFill>
            </a:endParaRPr>
          </a:p>
          <a:p>
            <a:pPr indent="0" lvl="0" marL="0" marR="0" rtl="0" algn="l">
              <a:lnSpc>
                <a:spcPct val="100000"/>
              </a:lnSpc>
              <a:spcBef>
                <a:spcPts val="0"/>
              </a:spcBef>
              <a:spcAft>
                <a:spcPts val="0"/>
              </a:spcAft>
              <a:buNone/>
            </a:pPr>
            <a:r>
              <a:rPr lang="en-GB" sz="2000">
                <a:solidFill>
                  <a:schemeClr val="lt1"/>
                </a:solidFill>
              </a:rPr>
              <a:t>Output: Achieving accuracy with Alzheimer's disease                       stage.</a:t>
            </a:r>
            <a:endParaRPr sz="20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22dc9114983_0_6"/>
          <p:cNvSpPr txBox="1"/>
          <p:nvPr>
            <p:ph type="title"/>
          </p:nvPr>
        </p:nvSpPr>
        <p:spPr>
          <a:xfrm>
            <a:off x="29475" y="747000"/>
            <a:ext cx="3367200" cy="444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GB" sz="2200">
                <a:latin typeface="Arial"/>
                <a:ea typeface="Arial"/>
                <a:cs typeface="Arial"/>
                <a:sym typeface="Arial"/>
              </a:rPr>
              <a:t>Step 1: Data collection</a:t>
            </a:r>
            <a:endParaRPr/>
          </a:p>
        </p:txBody>
      </p:sp>
      <p:sp>
        <p:nvSpPr>
          <p:cNvPr id="358" name="Google Shape;358;g22dc9114983_0_6"/>
          <p:cNvSpPr txBox="1"/>
          <p:nvPr/>
        </p:nvSpPr>
        <p:spPr>
          <a:xfrm>
            <a:off x="1145250" y="1556225"/>
            <a:ext cx="5987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lt1"/>
                </a:solidFill>
              </a:rPr>
              <a:t>1.1: MRI images of Brain collected from kaggle.</a:t>
            </a:r>
            <a:endParaRPr sz="2000">
              <a:solidFill>
                <a:schemeClr val="lt1"/>
              </a:solidFill>
            </a:endParaRPr>
          </a:p>
          <a:p>
            <a:pPr indent="0" lvl="0" marL="0" rtl="0" algn="l">
              <a:spcBef>
                <a:spcPts val="0"/>
              </a:spcBef>
              <a:spcAft>
                <a:spcPts val="0"/>
              </a:spcAft>
              <a:buNone/>
            </a:pPr>
            <a:r>
              <a:rPr lang="en-GB" sz="2000">
                <a:solidFill>
                  <a:schemeClr val="lt1"/>
                </a:solidFill>
              </a:rPr>
              <a:t>1.2: Data containing four stages of Alzheimer’s.</a:t>
            </a:r>
            <a:endParaRPr sz="2000">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22dc9114983_0_11"/>
          <p:cNvSpPr txBox="1"/>
          <p:nvPr>
            <p:ph type="title"/>
          </p:nvPr>
        </p:nvSpPr>
        <p:spPr>
          <a:xfrm>
            <a:off x="0" y="578600"/>
            <a:ext cx="4587000" cy="593100"/>
          </a:xfrm>
          <a:prstGeom prst="rect">
            <a:avLst/>
          </a:prstGeom>
        </p:spPr>
        <p:txBody>
          <a:bodyPr anchorCtr="0" anchor="ctr" bIns="91425" lIns="91425" spcFirstLastPara="1" rIns="91425" wrap="square" tIns="91425">
            <a:normAutofit/>
          </a:bodyPr>
          <a:lstStyle/>
          <a:p>
            <a:pPr indent="457200" lvl="0" marL="0" rtl="0" algn="l">
              <a:spcBef>
                <a:spcPts val="0"/>
              </a:spcBef>
              <a:spcAft>
                <a:spcPts val="0"/>
              </a:spcAft>
              <a:buNone/>
            </a:pPr>
            <a:r>
              <a:rPr b="1" lang="en-GB" sz="2200">
                <a:latin typeface="Arial"/>
                <a:ea typeface="Arial"/>
                <a:cs typeface="Arial"/>
                <a:sym typeface="Arial"/>
              </a:rPr>
              <a:t>Step 2: Data pre-processing</a:t>
            </a:r>
            <a:endParaRPr/>
          </a:p>
        </p:txBody>
      </p:sp>
      <p:sp>
        <p:nvSpPr>
          <p:cNvPr id="364" name="Google Shape;364;g22dc9114983_0_11"/>
          <p:cNvSpPr txBox="1"/>
          <p:nvPr/>
        </p:nvSpPr>
        <p:spPr>
          <a:xfrm>
            <a:off x="949475" y="1427525"/>
            <a:ext cx="7255500" cy="252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lt1"/>
                </a:solidFill>
              </a:rPr>
              <a:t>2.1: Self Augmenting data.</a:t>
            </a:r>
            <a:endParaRPr sz="1900">
              <a:solidFill>
                <a:schemeClr val="lt1"/>
              </a:solidFill>
            </a:endParaRPr>
          </a:p>
          <a:p>
            <a:pPr indent="0" lvl="0" marL="0" rtl="0" algn="l">
              <a:spcBef>
                <a:spcPts val="0"/>
              </a:spcBef>
              <a:spcAft>
                <a:spcPts val="0"/>
              </a:spcAft>
              <a:buNone/>
            </a:pPr>
            <a:r>
              <a:rPr lang="en-GB" sz="1900">
                <a:solidFill>
                  <a:schemeClr val="lt1"/>
                </a:solidFill>
              </a:rPr>
              <a:t>2.2: Defining labels for loading data.</a:t>
            </a:r>
            <a:endParaRPr sz="1900">
              <a:solidFill>
                <a:schemeClr val="lt1"/>
              </a:solidFill>
            </a:endParaRPr>
          </a:p>
          <a:p>
            <a:pPr indent="0" lvl="0" marL="0" rtl="0" algn="l">
              <a:spcBef>
                <a:spcPts val="0"/>
              </a:spcBef>
              <a:spcAft>
                <a:spcPts val="0"/>
              </a:spcAft>
              <a:buNone/>
            </a:pPr>
            <a:r>
              <a:rPr lang="en-GB" sz="1900">
                <a:solidFill>
                  <a:schemeClr val="lt1"/>
                </a:solidFill>
              </a:rPr>
              <a:t>2.3: Loading data.</a:t>
            </a:r>
            <a:endParaRPr sz="1900">
              <a:solidFill>
                <a:schemeClr val="lt1"/>
              </a:solidFill>
            </a:endParaRPr>
          </a:p>
          <a:p>
            <a:pPr indent="0" lvl="0" marL="0" rtl="0" algn="l">
              <a:spcBef>
                <a:spcPts val="0"/>
              </a:spcBef>
              <a:spcAft>
                <a:spcPts val="0"/>
              </a:spcAft>
              <a:buNone/>
            </a:pPr>
            <a:r>
              <a:rPr lang="en-GB" sz="1900">
                <a:solidFill>
                  <a:schemeClr val="lt1"/>
                </a:solidFill>
              </a:rPr>
              <a:t>	2.3.1: Appending images in X_train.</a:t>
            </a:r>
            <a:endParaRPr sz="1900">
              <a:solidFill>
                <a:schemeClr val="lt1"/>
              </a:solidFill>
            </a:endParaRPr>
          </a:p>
          <a:p>
            <a:pPr indent="0" lvl="0" marL="0" rtl="0" algn="l">
              <a:spcBef>
                <a:spcPts val="0"/>
              </a:spcBef>
              <a:spcAft>
                <a:spcPts val="0"/>
              </a:spcAft>
              <a:buNone/>
            </a:pPr>
            <a:r>
              <a:rPr lang="en-GB" sz="1900">
                <a:solidFill>
                  <a:schemeClr val="lt1"/>
                </a:solidFill>
              </a:rPr>
              <a:t>	2.3.2: Appending corresponding labels on Y_train.</a:t>
            </a:r>
            <a:endParaRPr sz="1900">
              <a:solidFill>
                <a:schemeClr val="lt1"/>
              </a:solidFill>
            </a:endParaRPr>
          </a:p>
          <a:p>
            <a:pPr indent="0" lvl="0" marL="0" rtl="0" algn="l">
              <a:spcBef>
                <a:spcPts val="0"/>
              </a:spcBef>
              <a:spcAft>
                <a:spcPts val="0"/>
              </a:spcAft>
              <a:buNone/>
            </a:pPr>
            <a:r>
              <a:rPr lang="en-GB" sz="1900">
                <a:solidFill>
                  <a:schemeClr val="lt1"/>
                </a:solidFill>
              </a:rPr>
              <a:t>2.4: Shuffling X_train, Y_train data.</a:t>
            </a:r>
            <a:endParaRPr sz="1900">
              <a:solidFill>
                <a:schemeClr val="lt1"/>
              </a:solidFill>
            </a:endParaRPr>
          </a:p>
          <a:p>
            <a:pPr indent="0" lvl="0" marL="0" rtl="0" algn="l">
              <a:spcBef>
                <a:spcPts val="0"/>
              </a:spcBef>
              <a:spcAft>
                <a:spcPts val="0"/>
              </a:spcAft>
              <a:buNone/>
            </a:pPr>
            <a:r>
              <a:rPr lang="en-GB" sz="1900">
                <a:solidFill>
                  <a:schemeClr val="lt1"/>
                </a:solidFill>
              </a:rPr>
              <a:t>2.5: Dividing X_train, Y_train into training and validation dataset.</a:t>
            </a:r>
            <a:endParaRPr sz="1900">
              <a:solidFill>
                <a:schemeClr val="lt1"/>
              </a:solidFill>
            </a:endParaRPr>
          </a:p>
          <a:p>
            <a:pPr indent="0" lvl="0" marL="0" rtl="0" algn="l">
              <a:spcBef>
                <a:spcPts val="0"/>
              </a:spcBef>
              <a:spcAft>
                <a:spcPts val="0"/>
              </a:spcAft>
              <a:buNone/>
            </a:pPr>
            <a:r>
              <a:rPr lang="en-GB" sz="1900">
                <a:solidFill>
                  <a:schemeClr val="lt1"/>
                </a:solidFill>
              </a:rPr>
              <a:t>2.6: Converting labels into encoders.</a:t>
            </a:r>
            <a:endParaRPr sz="19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22dc9114983_0_16"/>
          <p:cNvSpPr txBox="1"/>
          <p:nvPr>
            <p:ph type="title"/>
          </p:nvPr>
        </p:nvSpPr>
        <p:spPr>
          <a:xfrm>
            <a:off x="57650" y="332525"/>
            <a:ext cx="4587000" cy="731700"/>
          </a:xfrm>
          <a:prstGeom prst="rect">
            <a:avLst/>
          </a:prstGeom>
        </p:spPr>
        <p:txBody>
          <a:bodyPr anchorCtr="0" anchor="ctr" bIns="91425" lIns="91425" spcFirstLastPara="1" rIns="91425" wrap="square" tIns="91425">
            <a:normAutofit/>
          </a:bodyPr>
          <a:lstStyle/>
          <a:p>
            <a:pPr indent="457200" lvl="0" marL="0" rtl="0" algn="l">
              <a:spcBef>
                <a:spcPts val="0"/>
              </a:spcBef>
              <a:spcAft>
                <a:spcPts val="0"/>
              </a:spcAft>
              <a:buNone/>
            </a:pPr>
            <a:r>
              <a:rPr b="1" lang="en-GB" sz="2200">
                <a:latin typeface="Arial"/>
                <a:ea typeface="Arial"/>
                <a:cs typeface="Arial"/>
                <a:sym typeface="Arial"/>
              </a:rPr>
              <a:t>Step 3: Model Creation</a:t>
            </a:r>
            <a:endParaRPr/>
          </a:p>
        </p:txBody>
      </p:sp>
      <p:sp>
        <p:nvSpPr>
          <p:cNvPr id="370" name="Google Shape;370;g22dc9114983_0_16"/>
          <p:cNvSpPr txBox="1"/>
          <p:nvPr/>
        </p:nvSpPr>
        <p:spPr>
          <a:xfrm>
            <a:off x="1068450" y="1064225"/>
            <a:ext cx="70071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lt1"/>
                </a:solidFill>
              </a:rPr>
              <a:t>3.1: Using Densenet169 Model.</a:t>
            </a:r>
            <a:endParaRPr sz="1900">
              <a:solidFill>
                <a:schemeClr val="lt1"/>
              </a:solidFill>
            </a:endParaRPr>
          </a:p>
          <a:p>
            <a:pPr indent="0" lvl="0" marL="0" rtl="0" algn="l">
              <a:spcBef>
                <a:spcPts val="0"/>
              </a:spcBef>
              <a:spcAft>
                <a:spcPts val="0"/>
              </a:spcAft>
              <a:buNone/>
            </a:pPr>
            <a:r>
              <a:rPr lang="en-GB" sz="1900">
                <a:solidFill>
                  <a:schemeClr val="lt1"/>
                </a:solidFill>
              </a:rPr>
              <a:t>3.2: Adding Layers and function.</a:t>
            </a:r>
            <a:endParaRPr sz="1900">
              <a:solidFill>
                <a:schemeClr val="lt1"/>
              </a:solidFill>
            </a:endParaRPr>
          </a:p>
          <a:p>
            <a:pPr indent="0" lvl="0" marL="0" rtl="0" algn="l">
              <a:spcBef>
                <a:spcPts val="0"/>
              </a:spcBef>
              <a:spcAft>
                <a:spcPts val="0"/>
              </a:spcAft>
              <a:buNone/>
            </a:pPr>
            <a:r>
              <a:rPr lang="en-GB" sz="1900">
                <a:solidFill>
                  <a:schemeClr val="lt1"/>
                </a:solidFill>
              </a:rPr>
              <a:t>	3.2.1: Flatten layer.</a:t>
            </a:r>
            <a:endParaRPr sz="1900">
              <a:solidFill>
                <a:schemeClr val="lt1"/>
              </a:solidFill>
            </a:endParaRPr>
          </a:p>
          <a:p>
            <a:pPr indent="0" lvl="0" marL="0" rtl="0" algn="l">
              <a:spcBef>
                <a:spcPts val="0"/>
              </a:spcBef>
              <a:spcAft>
                <a:spcPts val="0"/>
              </a:spcAft>
              <a:buNone/>
            </a:pPr>
            <a:r>
              <a:rPr lang="en-GB" sz="1900">
                <a:solidFill>
                  <a:schemeClr val="lt1"/>
                </a:solidFill>
              </a:rPr>
              <a:t>	3.2.2: Batch normalisation.</a:t>
            </a:r>
            <a:endParaRPr sz="1900">
              <a:solidFill>
                <a:schemeClr val="lt1"/>
              </a:solidFill>
            </a:endParaRPr>
          </a:p>
          <a:p>
            <a:pPr indent="0" lvl="0" marL="0" rtl="0" algn="l">
              <a:spcBef>
                <a:spcPts val="0"/>
              </a:spcBef>
              <a:spcAft>
                <a:spcPts val="0"/>
              </a:spcAft>
              <a:buNone/>
            </a:pPr>
            <a:r>
              <a:rPr lang="en-GB" sz="1900">
                <a:solidFill>
                  <a:schemeClr val="lt1"/>
                </a:solidFill>
              </a:rPr>
              <a:t>	3.2.3: Dense layer.</a:t>
            </a:r>
            <a:endParaRPr sz="1900">
              <a:solidFill>
                <a:schemeClr val="lt1"/>
              </a:solidFill>
            </a:endParaRPr>
          </a:p>
          <a:p>
            <a:pPr indent="0" lvl="0" marL="0" rtl="0" algn="l">
              <a:spcBef>
                <a:spcPts val="0"/>
              </a:spcBef>
              <a:spcAft>
                <a:spcPts val="0"/>
              </a:spcAft>
              <a:buNone/>
            </a:pPr>
            <a:r>
              <a:rPr lang="en-GB" sz="1900">
                <a:solidFill>
                  <a:schemeClr val="lt1"/>
                </a:solidFill>
              </a:rPr>
              <a:t>	3.2.4: ReLU activation.</a:t>
            </a:r>
            <a:endParaRPr sz="1900">
              <a:solidFill>
                <a:schemeClr val="lt1"/>
              </a:solidFill>
            </a:endParaRPr>
          </a:p>
          <a:p>
            <a:pPr indent="457200" lvl="0" marL="0" rtl="0" algn="l">
              <a:spcBef>
                <a:spcPts val="0"/>
              </a:spcBef>
              <a:spcAft>
                <a:spcPts val="0"/>
              </a:spcAft>
              <a:buNone/>
            </a:pPr>
            <a:r>
              <a:rPr lang="en-GB" sz="1900">
                <a:solidFill>
                  <a:schemeClr val="lt1"/>
                </a:solidFill>
              </a:rPr>
              <a:t>3.2.5: Dropout nodes.</a:t>
            </a:r>
            <a:endParaRPr sz="1900">
              <a:solidFill>
                <a:schemeClr val="lt1"/>
              </a:solidFill>
            </a:endParaRPr>
          </a:p>
          <a:p>
            <a:pPr indent="0" lvl="0" marL="0" rtl="0" algn="l">
              <a:spcBef>
                <a:spcPts val="0"/>
              </a:spcBef>
              <a:spcAft>
                <a:spcPts val="0"/>
              </a:spcAft>
              <a:buNone/>
            </a:pPr>
            <a:r>
              <a:rPr lang="en-GB" sz="1900">
                <a:solidFill>
                  <a:schemeClr val="lt1"/>
                </a:solidFill>
              </a:rPr>
              <a:t>	3.2.6: Softmax activation function.</a:t>
            </a:r>
            <a:endParaRPr sz="1900">
              <a:solidFill>
                <a:schemeClr val="lt1"/>
              </a:solidFill>
            </a:endParaRPr>
          </a:p>
          <a:p>
            <a:pPr indent="0" lvl="0" marL="0" rtl="0" algn="l">
              <a:spcBef>
                <a:spcPts val="0"/>
              </a:spcBef>
              <a:spcAft>
                <a:spcPts val="0"/>
              </a:spcAft>
              <a:buNone/>
            </a:pPr>
            <a:r>
              <a:rPr lang="en-GB" sz="1900">
                <a:solidFill>
                  <a:schemeClr val="lt1"/>
                </a:solidFill>
              </a:rPr>
              <a:t>3.3: Compilation of model.</a:t>
            </a:r>
            <a:endParaRPr sz="1900">
              <a:solidFill>
                <a:schemeClr val="lt1"/>
              </a:solidFill>
            </a:endParaRPr>
          </a:p>
          <a:p>
            <a:pPr indent="0" lvl="0" marL="0" rtl="0" algn="l">
              <a:spcBef>
                <a:spcPts val="0"/>
              </a:spcBef>
              <a:spcAft>
                <a:spcPts val="0"/>
              </a:spcAft>
              <a:buNone/>
            </a:pPr>
            <a:r>
              <a:rPr lang="en-GB" sz="1900">
                <a:solidFill>
                  <a:schemeClr val="lt1"/>
                </a:solidFill>
              </a:rPr>
              <a:t>	3.3.1: </a:t>
            </a:r>
            <a:r>
              <a:rPr lang="en-GB" sz="1900">
                <a:solidFill>
                  <a:schemeClr val="lt1"/>
                </a:solidFill>
              </a:rPr>
              <a:t>Defining</a:t>
            </a:r>
            <a:r>
              <a:rPr lang="en-GB" sz="1900">
                <a:solidFill>
                  <a:schemeClr val="lt1"/>
                </a:solidFill>
              </a:rPr>
              <a:t> metrics.</a:t>
            </a:r>
            <a:endParaRPr sz="1900">
              <a:solidFill>
                <a:schemeClr val="lt1"/>
              </a:solidFill>
            </a:endParaRPr>
          </a:p>
          <a:p>
            <a:pPr indent="0" lvl="0" marL="0" rtl="0" algn="l">
              <a:spcBef>
                <a:spcPts val="0"/>
              </a:spcBef>
              <a:spcAft>
                <a:spcPts val="0"/>
              </a:spcAft>
              <a:buNone/>
            </a:pPr>
            <a:r>
              <a:rPr lang="en-GB" sz="1900">
                <a:solidFill>
                  <a:schemeClr val="lt1"/>
                </a:solidFill>
              </a:rPr>
              <a:t>	3.3.2: Compiling model using adam optimiser.</a:t>
            </a:r>
            <a:endParaRPr sz="1900">
              <a:solidFill>
                <a:schemeClr val="lt1"/>
              </a:solidFill>
            </a:endParaRPr>
          </a:p>
          <a:p>
            <a:pPr indent="0" lvl="0" marL="0" rtl="0" algn="l">
              <a:spcBef>
                <a:spcPts val="0"/>
              </a:spcBef>
              <a:spcAft>
                <a:spcPts val="0"/>
              </a:spcAft>
              <a:buNone/>
            </a:pPr>
            <a:r>
              <a:rPr lang="en-GB" sz="1900">
                <a:solidFill>
                  <a:schemeClr val="lt1"/>
                </a:solidFill>
              </a:rPr>
              <a:t>3.4: Feature maps.</a:t>
            </a:r>
            <a:endParaRPr sz="19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22dc9114983_0_21"/>
          <p:cNvSpPr txBox="1"/>
          <p:nvPr>
            <p:ph type="title"/>
          </p:nvPr>
        </p:nvSpPr>
        <p:spPr>
          <a:xfrm>
            <a:off x="0" y="254550"/>
            <a:ext cx="5433600" cy="700800"/>
          </a:xfrm>
          <a:prstGeom prst="rect">
            <a:avLst/>
          </a:prstGeom>
        </p:spPr>
        <p:txBody>
          <a:bodyPr anchorCtr="0" anchor="ctr" bIns="91425" lIns="91425" spcFirstLastPara="1" rIns="91425" wrap="square" tIns="91425">
            <a:normAutofit/>
          </a:bodyPr>
          <a:lstStyle/>
          <a:p>
            <a:pPr indent="457200" lvl="0" marL="0" rtl="0" algn="l">
              <a:spcBef>
                <a:spcPts val="0"/>
              </a:spcBef>
              <a:spcAft>
                <a:spcPts val="0"/>
              </a:spcAft>
              <a:buNone/>
            </a:pPr>
            <a:r>
              <a:rPr b="1" lang="en-GB" sz="2200">
                <a:latin typeface="Arial"/>
                <a:ea typeface="Arial"/>
                <a:cs typeface="Arial"/>
                <a:sym typeface="Arial"/>
              </a:rPr>
              <a:t>Step 4: Model Training and Testing</a:t>
            </a:r>
            <a:endParaRPr/>
          </a:p>
        </p:txBody>
      </p:sp>
      <p:sp>
        <p:nvSpPr>
          <p:cNvPr id="376" name="Google Shape;376;g22dc9114983_0_21"/>
          <p:cNvSpPr txBox="1"/>
          <p:nvPr/>
        </p:nvSpPr>
        <p:spPr>
          <a:xfrm>
            <a:off x="955750" y="1161300"/>
            <a:ext cx="75516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lt1"/>
                </a:solidFill>
              </a:rPr>
              <a:t>4.1: Training model.</a:t>
            </a:r>
            <a:endParaRPr sz="1900">
              <a:solidFill>
                <a:schemeClr val="lt1"/>
              </a:solidFill>
            </a:endParaRPr>
          </a:p>
          <a:p>
            <a:pPr indent="0" lvl="0" marL="0" rtl="0" algn="l">
              <a:spcBef>
                <a:spcPts val="0"/>
              </a:spcBef>
              <a:spcAft>
                <a:spcPts val="0"/>
              </a:spcAft>
              <a:buNone/>
            </a:pPr>
            <a:r>
              <a:rPr lang="en-GB" sz="1900">
                <a:solidFill>
                  <a:schemeClr val="lt1"/>
                </a:solidFill>
              </a:rPr>
              <a:t>	4.1.1: Define Call Backs.</a:t>
            </a:r>
            <a:endParaRPr sz="1900">
              <a:solidFill>
                <a:schemeClr val="lt1"/>
              </a:solidFill>
            </a:endParaRPr>
          </a:p>
          <a:p>
            <a:pPr indent="0" lvl="0" marL="0" rtl="0" algn="l">
              <a:spcBef>
                <a:spcPts val="0"/>
              </a:spcBef>
              <a:spcAft>
                <a:spcPts val="0"/>
              </a:spcAft>
              <a:buNone/>
            </a:pPr>
            <a:r>
              <a:rPr lang="en-GB" sz="1900">
                <a:solidFill>
                  <a:schemeClr val="lt1"/>
                </a:solidFill>
              </a:rPr>
              <a:t>		4.1.1.1: Early stopping.</a:t>
            </a:r>
            <a:endParaRPr sz="1900">
              <a:solidFill>
                <a:schemeClr val="lt1"/>
              </a:solidFill>
            </a:endParaRPr>
          </a:p>
          <a:p>
            <a:pPr indent="0" lvl="0" marL="0" rtl="0" algn="l">
              <a:spcBef>
                <a:spcPts val="0"/>
              </a:spcBef>
              <a:spcAft>
                <a:spcPts val="0"/>
              </a:spcAft>
              <a:buNone/>
            </a:pPr>
            <a:r>
              <a:rPr lang="en-GB" sz="1900">
                <a:solidFill>
                  <a:schemeClr val="lt1"/>
                </a:solidFill>
              </a:rPr>
              <a:t>		4.1.1.2: Checkpoint.</a:t>
            </a:r>
            <a:endParaRPr sz="1900">
              <a:solidFill>
                <a:schemeClr val="lt1"/>
              </a:solidFill>
            </a:endParaRPr>
          </a:p>
          <a:p>
            <a:pPr indent="0" lvl="0" marL="0" rtl="0" algn="l">
              <a:spcBef>
                <a:spcPts val="0"/>
              </a:spcBef>
              <a:spcAft>
                <a:spcPts val="0"/>
              </a:spcAft>
              <a:buNone/>
            </a:pPr>
            <a:r>
              <a:rPr lang="en-GB" sz="1900">
                <a:solidFill>
                  <a:schemeClr val="lt1"/>
                </a:solidFill>
              </a:rPr>
              <a:t>		4.1.1.3: learning_rate.</a:t>
            </a:r>
            <a:endParaRPr sz="1900">
              <a:solidFill>
                <a:schemeClr val="lt1"/>
              </a:solidFill>
            </a:endParaRPr>
          </a:p>
          <a:p>
            <a:pPr indent="0" lvl="0" marL="0" rtl="0" algn="l">
              <a:spcBef>
                <a:spcPts val="0"/>
              </a:spcBef>
              <a:spcAft>
                <a:spcPts val="0"/>
              </a:spcAft>
              <a:buNone/>
            </a:pPr>
            <a:r>
              <a:rPr lang="en-GB" sz="1900">
                <a:solidFill>
                  <a:schemeClr val="lt1"/>
                </a:solidFill>
              </a:rPr>
              <a:t>	4.1.2: Training on train dataset.</a:t>
            </a:r>
            <a:endParaRPr sz="1900">
              <a:solidFill>
                <a:schemeClr val="lt1"/>
              </a:solidFill>
            </a:endParaRPr>
          </a:p>
          <a:p>
            <a:pPr indent="0" lvl="0" marL="0" rtl="0" algn="l">
              <a:spcBef>
                <a:spcPts val="0"/>
              </a:spcBef>
              <a:spcAft>
                <a:spcPts val="0"/>
              </a:spcAft>
              <a:buNone/>
            </a:pPr>
            <a:r>
              <a:rPr lang="en-GB" sz="1900">
                <a:solidFill>
                  <a:schemeClr val="lt1"/>
                </a:solidFill>
              </a:rPr>
              <a:t>4.2: Plotting history.</a:t>
            </a:r>
            <a:endParaRPr sz="1900">
              <a:solidFill>
                <a:schemeClr val="lt1"/>
              </a:solidFill>
            </a:endParaRPr>
          </a:p>
          <a:p>
            <a:pPr indent="0" lvl="0" marL="0" rtl="0" algn="l">
              <a:spcBef>
                <a:spcPts val="0"/>
              </a:spcBef>
              <a:spcAft>
                <a:spcPts val="0"/>
              </a:spcAft>
              <a:buNone/>
            </a:pPr>
            <a:r>
              <a:rPr lang="en-GB" sz="1900">
                <a:solidFill>
                  <a:schemeClr val="lt1"/>
                </a:solidFill>
              </a:rPr>
              <a:t>	4.2.1: Summarize history for loss.</a:t>
            </a:r>
            <a:endParaRPr sz="1900">
              <a:solidFill>
                <a:schemeClr val="lt1"/>
              </a:solidFill>
            </a:endParaRPr>
          </a:p>
          <a:p>
            <a:pPr indent="0" lvl="0" marL="0" rtl="0" algn="l">
              <a:spcBef>
                <a:spcPts val="0"/>
              </a:spcBef>
              <a:spcAft>
                <a:spcPts val="0"/>
              </a:spcAft>
              <a:buNone/>
            </a:pPr>
            <a:r>
              <a:rPr lang="en-GB" sz="1900">
                <a:solidFill>
                  <a:schemeClr val="lt1"/>
                </a:solidFill>
              </a:rPr>
              <a:t>	4.2.2: Summarize </a:t>
            </a:r>
            <a:r>
              <a:rPr lang="en-GB" sz="1900">
                <a:solidFill>
                  <a:schemeClr val="lt1"/>
                </a:solidFill>
              </a:rPr>
              <a:t>history</a:t>
            </a:r>
            <a:r>
              <a:rPr lang="en-GB" sz="1900">
                <a:solidFill>
                  <a:schemeClr val="lt1"/>
                </a:solidFill>
              </a:rPr>
              <a:t> for accuracy.</a:t>
            </a:r>
            <a:endParaRPr sz="1900">
              <a:solidFill>
                <a:schemeClr val="lt1"/>
              </a:solidFill>
            </a:endParaRPr>
          </a:p>
          <a:p>
            <a:pPr indent="0" lvl="0" marL="0" rtl="0" algn="l">
              <a:spcBef>
                <a:spcPts val="0"/>
              </a:spcBef>
              <a:spcAft>
                <a:spcPts val="0"/>
              </a:spcAft>
              <a:buNone/>
            </a:pPr>
            <a:r>
              <a:rPr lang="en-GB" sz="1900">
                <a:solidFill>
                  <a:schemeClr val="lt1"/>
                </a:solidFill>
              </a:rPr>
              <a:t>4.3: Evaluate model.</a:t>
            </a:r>
            <a:endParaRPr sz="1900">
              <a:solidFill>
                <a:schemeClr val="lt1"/>
              </a:solidFill>
            </a:endParaRPr>
          </a:p>
          <a:p>
            <a:pPr indent="0" lvl="0" marL="0" rtl="0" algn="l">
              <a:spcBef>
                <a:spcPts val="0"/>
              </a:spcBef>
              <a:spcAft>
                <a:spcPts val="0"/>
              </a:spcAft>
              <a:buNone/>
            </a:pPr>
            <a:r>
              <a:rPr lang="en-GB" sz="1900">
                <a:solidFill>
                  <a:schemeClr val="lt1"/>
                </a:solidFill>
              </a:rPr>
              <a:t>	4.3.1: Evaluate model on train data.</a:t>
            </a:r>
            <a:endParaRPr sz="1900">
              <a:solidFill>
                <a:schemeClr val="lt1"/>
              </a:solidFill>
            </a:endParaRPr>
          </a:p>
          <a:p>
            <a:pPr indent="0" lvl="0" marL="0" rtl="0" algn="l">
              <a:spcBef>
                <a:spcPts val="0"/>
              </a:spcBef>
              <a:spcAft>
                <a:spcPts val="0"/>
              </a:spcAft>
              <a:buNone/>
            </a:pPr>
            <a:r>
              <a:rPr lang="en-GB" sz="1900">
                <a:solidFill>
                  <a:schemeClr val="lt1"/>
                </a:solidFill>
              </a:rPr>
              <a:t>	4.3.2: Evaluate model on validation data.</a:t>
            </a:r>
            <a:endParaRPr sz="1900">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22dc9114983_0_26"/>
          <p:cNvSpPr txBox="1"/>
          <p:nvPr>
            <p:ph type="title"/>
          </p:nvPr>
        </p:nvSpPr>
        <p:spPr>
          <a:xfrm>
            <a:off x="0" y="275575"/>
            <a:ext cx="4587000" cy="885900"/>
          </a:xfrm>
          <a:prstGeom prst="rect">
            <a:avLst/>
          </a:prstGeom>
        </p:spPr>
        <p:txBody>
          <a:bodyPr anchorCtr="0" anchor="ctr" bIns="91425" lIns="91425" spcFirstLastPara="1" rIns="91425" wrap="square" tIns="91425">
            <a:normAutofit/>
          </a:bodyPr>
          <a:lstStyle/>
          <a:p>
            <a:pPr indent="457200" lvl="0" marL="0" rtl="0" algn="l">
              <a:spcBef>
                <a:spcPts val="0"/>
              </a:spcBef>
              <a:spcAft>
                <a:spcPts val="0"/>
              </a:spcAft>
              <a:buNone/>
            </a:pPr>
            <a:r>
              <a:rPr b="1" lang="en-GB" sz="2200">
                <a:latin typeface="Arial"/>
                <a:ea typeface="Arial"/>
                <a:cs typeface="Arial"/>
                <a:sym typeface="Arial"/>
              </a:rPr>
              <a:t>Step 5: Execution of Model</a:t>
            </a:r>
            <a:endParaRPr/>
          </a:p>
        </p:txBody>
      </p:sp>
      <p:sp>
        <p:nvSpPr>
          <p:cNvPr id="382" name="Google Shape;382;g22dc9114983_0_26"/>
          <p:cNvSpPr txBox="1"/>
          <p:nvPr/>
        </p:nvSpPr>
        <p:spPr>
          <a:xfrm>
            <a:off x="1128475" y="1754975"/>
            <a:ext cx="72123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lt1"/>
                </a:solidFill>
              </a:rPr>
              <a:t>5.1: Model providing Lose of ______ .</a:t>
            </a:r>
            <a:endParaRPr sz="1900">
              <a:solidFill>
                <a:schemeClr val="lt1"/>
              </a:solidFill>
            </a:endParaRPr>
          </a:p>
          <a:p>
            <a:pPr indent="0" lvl="0" marL="0" rtl="0" algn="l">
              <a:spcBef>
                <a:spcPts val="0"/>
              </a:spcBef>
              <a:spcAft>
                <a:spcPts val="0"/>
              </a:spcAft>
              <a:buNone/>
            </a:pPr>
            <a:r>
              <a:rPr lang="en-GB" sz="1900">
                <a:solidFill>
                  <a:schemeClr val="lt1"/>
                </a:solidFill>
              </a:rPr>
              <a:t>5.2: Model providing Accuracy of ______ .</a:t>
            </a:r>
            <a:endParaRPr sz="1900">
              <a:solidFill>
                <a:schemeClr val="lt1"/>
              </a:solidFill>
            </a:endParaRPr>
          </a:p>
          <a:p>
            <a:pPr indent="0" lvl="0" marL="0" rtl="0" algn="l">
              <a:spcBef>
                <a:spcPts val="0"/>
              </a:spcBef>
              <a:spcAft>
                <a:spcPts val="0"/>
              </a:spcAft>
              <a:buNone/>
            </a:pPr>
            <a:r>
              <a:rPr lang="en-GB" sz="1900">
                <a:solidFill>
                  <a:schemeClr val="lt1"/>
                </a:solidFill>
              </a:rPr>
              <a:t>5.3: Model providing Precision of ______ .</a:t>
            </a:r>
            <a:endParaRPr sz="1900">
              <a:solidFill>
                <a:schemeClr val="lt1"/>
              </a:solidFill>
            </a:endParaRPr>
          </a:p>
          <a:p>
            <a:pPr indent="0" lvl="0" marL="0" rtl="0" algn="l">
              <a:spcBef>
                <a:spcPts val="0"/>
              </a:spcBef>
              <a:spcAft>
                <a:spcPts val="0"/>
              </a:spcAft>
              <a:buNone/>
            </a:pPr>
            <a:r>
              <a:rPr lang="en-GB" sz="1900">
                <a:solidFill>
                  <a:schemeClr val="lt1"/>
                </a:solidFill>
              </a:rPr>
              <a:t>5.4: Model providing Recall of ______ .</a:t>
            </a:r>
            <a:endParaRPr sz="1900">
              <a:solidFill>
                <a:schemeClr val="lt1"/>
              </a:solidFill>
            </a:endParaRPr>
          </a:p>
          <a:p>
            <a:pPr indent="0" lvl="0" marL="0" rtl="0" algn="l">
              <a:spcBef>
                <a:spcPts val="0"/>
              </a:spcBef>
              <a:spcAft>
                <a:spcPts val="0"/>
              </a:spcAft>
              <a:buNone/>
            </a:pPr>
            <a:r>
              <a:rPr lang="en-GB" sz="1900">
                <a:solidFill>
                  <a:schemeClr val="lt1"/>
                </a:solidFill>
              </a:rPr>
              <a:t>5.5: Model providing F1-Score of _____ .</a:t>
            </a:r>
            <a:endParaRPr sz="1900">
              <a:solidFill>
                <a:schemeClr val="lt1"/>
              </a:solidFill>
            </a:endParaRPr>
          </a:p>
          <a:p>
            <a:pPr indent="0" lvl="0" marL="0" rtl="0" algn="l">
              <a:spcBef>
                <a:spcPts val="0"/>
              </a:spcBef>
              <a:spcAft>
                <a:spcPts val="0"/>
              </a:spcAft>
              <a:buNone/>
            </a:pPr>
            <a:r>
              <a:rPr lang="en-GB" sz="1900">
                <a:solidFill>
                  <a:schemeClr val="lt1"/>
                </a:solidFill>
              </a:rPr>
              <a:t>5.6: Model providing AUC of ______ .</a:t>
            </a:r>
            <a:endParaRPr sz="19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22dc9114983_0_31"/>
          <p:cNvSpPr txBox="1"/>
          <p:nvPr>
            <p:ph type="title"/>
          </p:nvPr>
        </p:nvSpPr>
        <p:spPr>
          <a:xfrm>
            <a:off x="0" y="183100"/>
            <a:ext cx="5721300" cy="1148700"/>
          </a:xfrm>
          <a:prstGeom prst="rect">
            <a:avLst/>
          </a:prstGeom>
        </p:spPr>
        <p:txBody>
          <a:bodyPr anchorCtr="0" anchor="ctr" bIns="91425" lIns="91425" spcFirstLastPara="1" rIns="91425" wrap="square" tIns="91425">
            <a:normAutofit/>
          </a:bodyPr>
          <a:lstStyle/>
          <a:p>
            <a:pPr indent="457200" lvl="0" marL="0" rtl="0" algn="l">
              <a:spcBef>
                <a:spcPts val="0"/>
              </a:spcBef>
              <a:spcAft>
                <a:spcPts val="0"/>
              </a:spcAft>
              <a:buNone/>
            </a:pPr>
            <a:r>
              <a:rPr b="1" lang="en-GB" sz="2200">
                <a:latin typeface="Arial"/>
                <a:ea typeface="Arial"/>
                <a:cs typeface="Arial"/>
                <a:sym typeface="Arial"/>
              </a:rPr>
              <a:t>Step 6: Model testing on random data</a:t>
            </a:r>
            <a:endParaRPr/>
          </a:p>
        </p:txBody>
      </p:sp>
      <p:sp>
        <p:nvSpPr>
          <p:cNvPr id="388" name="Google Shape;388;g22dc9114983_0_31"/>
          <p:cNvSpPr txBox="1"/>
          <p:nvPr/>
        </p:nvSpPr>
        <p:spPr>
          <a:xfrm>
            <a:off x="986675" y="1675100"/>
            <a:ext cx="58665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lt1"/>
                </a:solidFill>
              </a:rPr>
              <a:t>6.1: Execution of image </a:t>
            </a:r>
            <a:r>
              <a:rPr lang="en-GB" sz="1900">
                <a:solidFill>
                  <a:schemeClr val="lt1"/>
                </a:solidFill>
              </a:rPr>
              <a:t>prediction</a:t>
            </a:r>
            <a:r>
              <a:rPr lang="en-GB" sz="1900">
                <a:solidFill>
                  <a:schemeClr val="lt1"/>
                </a:solidFill>
              </a:rPr>
              <a:t> </a:t>
            </a:r>
            <a:r>
              <a:rPr lang="en-GB" sz="1900">
                <a:solidFill>
                  <a:schemeClr val="lt1"/>
                </a:solidFill>
              </a:rPr>
              <a:t>function.</a:t>
            </a:r>
            <a:endParaRPr sz="1900">
              <a:solidFill>
                <a:schemeClr val="lt1"/>
              </a:solidFill>
            </a:endParaRPr>
          </a:p>
          <a:p>
            <a:pPr indent="0" lvl="0" marL="0" rtl="0" algn="l">
              <a:spcBef>
                <a:spcPts val="0"/>
              </a:spcBef>
              <a:spcAft>
                <a:spcPts val="0"/>
              </a:spcAft>
              <a:buNone/>
            </a:pPr>
            <a:r>
              <a:rPr lang="en-GB" sz="1900">
                <a:solidFill>
                  <a:schemeClr val="lt1"/>
                </a:solidFill>
              </a:rPr>
              <a:t>	6.1.1: Upload image.</a:t>
            </a:r>
            <a:endParaRPr sz="1900">
              <a:solidFill>
                <a:schemeClr val="lt1"/>
              </a:solidFill>
            </a:endParaRPr>
          </a:p>
          <a:p>
            <a:pPr indent="0" lvl="0" marL="0" rtl="0" algn="l">
              <a:spcBef>
                <a:spcPts val="0"/>
              </a:spcBef>
              <a:spcAft>
                <a:spcPts val="0"/>
              </a:spcAft>
              <a:buNone/>
            </a:pPr>
            <a:r>
              <a:rPr lang="en-GB" sz="1900">
                <a:solidFill>
                  <a:schemeClr val="lt1"/>
                </a:solidFill>
              </a:rPr>
              <a:t>	6.1.2: Predict image.</a:t>
            </a:r>
            <a:endParaRPr sz="1900">
              <a:solidFill>
                <a:schemeClr val="lt1"/>
              </a:solidFill>
            </a:endParaRPr>
          </a:p>
          <a:p>
            <a:pPr indent="0" lvl="0" marL="0" rtl="0" algn="l">
              <a:spcBef>
                <a:spcPts val="0"/>
              </a:spcBef>
              <a:spcAft>
                <a:spcPts val="0"/>
              </a:spcAft>
              <a:buNone/>
            </a:pPr>
            <a:r>
              <a:rPr lang="en-GB" sz="1900">
                <a:solidFill>
                  <a:schemeClr val="lt1"/>
                </a:solidFill>
              </a:rPr>
              <a:t>6.2: Get result with accuracy and state of disease.</a:t>
            </a:r>
            <a:endParaRPr sz="1900">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23e73741058_3_5"/>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10. SYSTEM IMPLEMENTATION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g23e73741058_3_9"/>
          <p:cNvPicPr preferRelativeResize="0"/>
          <p:nvPr/>
        </p:nvPicPr>
        <p:blipFill>
          <a:blip r:embed="rId3">
            <a:alphaModFix/>
          </a:blip>
          <a:stretch>
            <a:fillRect/>
          </a:stretch>
        </p:blipFill>
        <p:spPr>
          <a:xfrm>
            <a:off x="461775" y="152400"/>
            <a:ext cx="8220444" cy="48387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g23e73741058_3_13"/>
          <p:cNvPicPr preferRelativeResize="0"/>
          <p:nvPr/>
        </p:nvPicPr>
        <p:blipFill>
          <a:blip r:embed="rId3">
            <a:alphaModFix/>
          </a:blip>
          <a:stretch>
            <a:fillRect/>
          </a:stretch>
        </p:blipFill>
        <p:spPr>
          <a:xfrm>
            <a:off x="1188438" y="152400"/>
            <a:ext cx="6767118" cy="48387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g23e73741058_3_17"/>
          <p:cNvPicPr preferRelativeResize="0"/>
          <p:nvPr/>
        </p:nvPicPr>
        <p:blipFill>
          <a:blip r:embed="rId3">
            <a:alphaModFix/>
          </a:blip>
          <a:stretch>
            <a:fillRect/>
          </a:stretch>
        </p:blipFill>
        <p:spPr>
          <a:xfrm>
            <a:off x="2033663" y="152400"/>
            <a:ext cx="5076670" cy="483870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id="413" name="Google Shape;413;g23e73741058_3_21"/>
          <p:cNvPicPr preferRelativeResize="0"/>
          <p:nvPr/>
        </p:nvPicPr>
        <p:blipFill>
          <a:blip r:embed="rId3">
            <a:alphaModFix/>
          </a:blip>
          <a:stretch>
            <a:fillRect/>
          </a:stretch>
        </p:blipFill>
        <p:spPr>
          <a:xfrm>
            <a:off x="700700" y="0"/>
            <a:ext cx="7658100" cy="1809750"/>
          </a:xfrm>
          <a:prstGeom prst="rect">
            <a:avLst/>
          </a:prstGeom>
          <a:noFill/>
          <a:ln>
            <a:noFill/>
          </a:ln>
        </p:spPr>
      </p:pic>
      <p:pic>
        <p:nvPicPr>
          <p:cNvPr id="414" name="Google Shape;414;g23e73741058_3_21"/>
          <p:cNvPicPr preferRelativeResize="0"/>
          <p:nvPr/>
        </p:nvPicPr>
        <p:blipFill rotWithShape="1">
          <a:blip r:embed="rId4">
            <a:alphaModFix/>
          </a:blip>
          <a:srcRect b="0" l="0" r="-300" t="0"/>
          <a:stretch/>
        </p:blipFill>
        <p:spPr>
          <a:xfrm>
            <a:off x="2837950" y="1756950"/>
            <a:ext cx="3299076" cy="33337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g23e73741058_3_24"/>
          <p:cNvPicPr preferRelativeResize="0"/>
          <p:nvPr/>
        </p:nvPicPr>
        <p:blipFill>
          <a:blip r:embed="rId3">
            <a:alphaModFix/>
          </a:blip>
          <a:stretch>
            <a:fillRect/>
          </a:stretch>
        </p:blipFill>
        <p:spPr>
          <a:xfrm>
            <a:off x="1603250" y="152400"/>
            <a:ext cx="5937503" cy="483870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g23e73741058_3_27"/>
          <p:cNvPicPr preferRelativeResize="0"/>
          <p:nvPr/>
        </p:nvPicPr>
        <p:blipFill>
          <a:blip r:embed="rId3">
            <a:alphaModFix/>
          </a:blip>
          <a:stretch>
            <a:fillRect/>
          </a:stretch>
        </p:blipFill>
        <p:spPr>
          <a:xfrm>
            <a:off x="152400" y="267763"/>
            <a:ext cx="8839202" cy="460797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g23e73741058_3_35"/>
          <p:cNvPicPr preferRelativeResize="0"/>
          <p:nvPr/>
        </p:nvPicPr>
        <p:blipFill>
          <a:blip r:embed="rId3">
            <a:alphaModFix/>
          </a:blip>
          <a:stretch>
            <a:fillRect/>
          </a:stretch>
        </p:blipFill>
        <p:spPr>
          <a:xfrm>
            <a:off x="2373513" y="152400"/>
            <a:ext cx="4396965" cy="48387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g23e73741058_3_39"/>
          <p:cNvPicPr preferRelativeResize="0"/>
          <p:nvPr/>
        </p:nvPicPr>
        <p:blipFill>
          <a:blip r:embed="rId3">
            <a:alphaModFix/>
          </a:blip>
          <a:stretch>
            <a:fillRect/>
          </a:stretch>
        </p:blipFill>
        <p:spPr>
          <a:xfrm>
            <a:off x="1128713" y="623888"/>
            <a:ext cx="6886575" cy="38957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g23e73741058_3_43"/>
          <p:cNvPicPr preferRelativeResize="0"/>
          <p:nvPr/>
        </p:nvPicPr>
        <p:blipFill>
          <a:blip r:embed="rId3">
            <a:alphaModFix/>
          </a:blip>
          <a:stretch>
            <a:fillRect/>
          </a:stretch>
        </p:blipFill>
        <p:spPr>
          <a:xfrm>
            <a:off x="1777688" y="152400"/>
            <a:ext cx="5588632" cy="483869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g23e73741058_3_47"/>
          <p:cNvPicPr preferRelativeResize="0"/>
          <p:nvPr/>
        </p:nvPicPr>
        <p:blipFill>
          <a:blip r:embed="rId3">
            <a:alphaModFix/>
          </a:blip>
          <a:stretch>
            <a:fillRect/>
          </a:stretch>
        </p:blipFill>
        <p:spPr>
          <a:xfrm>
            <a:off x="152400" y="69350"/>
            <a:ext cx="8839200" cy="2589829"/>
          </a:xfrm>
          <a:prstGeom prst="rect">
            <a:avLst/>
          </a:prstGeom>
          <a:noFill/>
          <a:ln>
            <a:noFill/>
          </a:ln>
        </p:spPr>
      </p:pic>
      <p:pic>
        <p:nvPicPr>
          <p:cNvPr id="445" name="Google Shape;445;g23e73741058_3_47"/>
          <p:cNvPicPr preferRelativeResize="0"/>
          <p:nvPr/>
        </p:nvPicPr>
        <p:blipFill>
          <a:blip r:embed="rId4">
            <a:alphaModFix/>
          </a:blip>
          <a:stretch>
            <a:fillRect/>
          </a:stretch>
        </p:blipFill>
        <p:spPr>
          <a:xfrm>
            <a:off x="152400" y="2915604"/>
            <a:ext cx="8839200" cy="210423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g23e73741058_3_52"/>
          <p:cNvPicPr preferRelativeResize="0"/>
          <p:nvPr/>
        </p:nvPicPr>
        <p:blipFill>
          <a:blip r:embed="rId3">
            <a:alphaModFix/>
          </a:blip>
          <a:stretch>
            <a:fillRect/>
          </a:stretch>
        </p:blipFill>
        <p:spPr>
          <a:xfrm>
            <a:off x="1886525" y="152400"/>
            <a:ext cx="5370957" cy="48387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g23e73741058_3_56"/>
          <p:cNvPicPr preferRelativeResize="0"/>
          <p:nvPr/>
        </p:nvPicPr>
        <p:blipFill>
          <a:blip r:embed="rId3">
            <a:alphaModFix/>
          </a:blip>
          <a:stretch>
            <a:fillRect/>
          </a:stretch>
        </p:blipFill>
        <p:spPr>
          <a:xfrm>
            <a:off x="1204200" y="152400"/>
            <a:ext cx="6625517" cy="48387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g23e73741058_3_60"/>
          <p:cNvPicPr preferRelativeResize="0"/>
          <p:nvPr/>
        </p:nvPicPr>
        <p:blipFill>
          <a:blip r:embed="rId3">
            <a:alphaModFix/>
          </a:blip>
          <a:stretch>
            <a:fillRect/>
          </a:stretch>
        </p:blipFill>
        <p:spPr>
          <a:xfrm>
            <a:off x="152400" y="152400"/>
            <a:ext cx="8839199" cy="472993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g23e73741058_3_64"/>
          <p:cNvPicPr preferRelativeResize="0"/>
          <p:nvPr/>
        </p:nvPicPr>
        <p:blipFill>
          <a:blip r:embed="rId3">
            <a:alphaModFix/>
          </a:blip>
          <a:stretch>
            <a:fillRect/>
          </a:stretch>
        </p:blipFill>
        <p:spPr>
          <a:xfrm>
            <a:off x="1391575" y="152400"/>
            <a:ext cx="6360848" cy="483869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g23e73741058_3_68"/>
          <p:cNvPicPr preferRelativeResize="0"/>
          <p:nvPr/>
        </p:nvPicPr>
        <p:blipFill>
          <a:blip r:embed="rId3">
            <a:alphaModFix/>
          </a:blip>
          <a:stretch>
            <a:fillRect/>
          </a:stretch>
        </p:blipFill>
        <p:spPr>
          <a:xfrm>
            <a:off x="152400" y="201238"/>
            <a:ext cx="8839198" cy="47410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g23e73741058_3_72"/>
          <p:cNvPicPr preferRelativeResize="0"/>
          <p:nvPr/>
        </p:nvPicPr>
        <p:blipFill>
          <a:blip r:embed="rId3">
            <a:alphaModFix/>
          </a:blip>
          <a:stretch>
            <a:fillRect/>
          </a:stretch>
        </p:blipFill>
        <p:spPr>
          <a:xfrm>
            <a:off x="1303538" y="152400"/>
            <a:ext cx="6536929" cy="4838701"/>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id="480" name="Google Shape;480;g23e73741058_3_76"/>
          <p:cNvPicPr preferRelativeResize="0"/>
          <p:nvPr/>
        </p:nvPicPr>
        <p:blipFill>
          <a:blip r:embed="rId3">
            <a:alphaModFix/>
          </a:blip>
          <a:stretch>
            <a:fillRect/>
          </a:stretch>
        </p:blipFill>
        <p:spPr>
          <a:xfrm>
            <a:off x="1190150" y="80725"/>
            <a:ext cx="6763700" cy="49820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g23e73741058_3_80"/>
          <p:cNvPicPr preferRelativeResize="0"/>
          <p:nvPr/>
        </p:nvPicPr>
        <p:blipFill>
          <a:blip r:embed="rId3">
            <a:alphaModFix/>
          </a:blip>
          <a:stretch>
            <a:fillRect/>
          </a:stretch>
        </p:blipFill>
        <p:spPr>
          <a:xfrm>
            <a:off x="152400" y="238375"/>
            <a:ext cx="8839201" cy="466674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g23e73741058_3_84"/>
          <p:cNvPicPr preferRelativeResize="0"/>
          <p:nvPr/>
        </p:nvPicPr>
        <p:blipFill>
          <a:blip r:embed="rId3">
            <a:alphaModFix/>
          </a:blip>
          <a:stretch>
            <a:fillRect/>
          </a:stretch>
        </p:blipFill>
        <p:spPr>
          <a:xfrm>
            <a:off x="1530913" y="152400"/>
            <a:ext cx="6082166" cy="483870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g23e73741058_3_88"/>
          <p:cNvPicPr preferRelativeResize="0"/>
          <p:nvPr/>
        </p:nvPicPr>
        <p:blipFill>
          <a:blip r:embed="rId3">
            <a:alphaModFix/>
          </a:blip>
          <a:stretch>
            <a:fillRect/>
          </a:stretch>
        </p:blipFill>
        <p:spPr>
          <a:xfrm>
            <a:off x="1318800" y="152400"/>
            <a:ext cx="6506406" cy="483869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id="500" name="Google Shape;500;g23e73741058_3_96"/>
          <p:cNvPicPr preferRelativeResize="0"/>
          <p:nvPr/>
        </p:nvPicPr>
        <p:blipFill>
          <a:blip r:embed="rId3">
            <a:alphaModFix/>
          </a:blip>
          <a:stretch>
            <a:fillRect/>
          </a:stretch>
        </p:blipFill>
        <p:spPr>
          <a:xfrm>
            <a:off x="753263" y="152400"/>
            <a:ext cx="7637475" cy="483869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pic>
        <p:nvPicPr>
          <p:cNvPr id="505" name="Google Shape;505;g23e73741058_3_92"/>
          <p:cNvPicPr preferRelativeResize="0"/>
          <p:nvPr/>
        </p:nvPicPr>
        <p:blipFill>
          <a:blip r:embed="rId3">
            <a:alphaModFix/>
          </a:blip>
          <a:stretch>
            <a:fillRect/>
          </a:stretch>
        </p:blipFill>
        <p:spPr>
          <a:xfrm>
            <a:off x="2028825" y="371475"/>
            <a:ext cx="5086350" cy="44005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249c1b7926f_0_1"/>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11. USER INTERFACE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pic>
        <p:nvPicPr>
          <p:cNvPr id="515" name="Google Shape;515;g249c1b7926f_0_5"/>
          <p:cNvPicPr preferRelativeResize="0"/>
          <p:nvPr/>
        </p:nvPicPr>
        <p:blipFill>
          <a:blip r:embed="rId3">
            <a:alphaModFix/>
          </a:blip>
          <a:stretch>
            <a:fillRect/>
          </a:stretch>
        </p:blipFill>
        <p:spPr>
          <a:xfrm>
            <a:off x="152400" y="152400"/>
            <a:ext cx="8605621" cy="48387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g249c1b7926f_0_9"/>
          <p:cNvPicPr preferRelativeResize="0"/>
          <p:nvPr/>
        </p:nvPicPr>
        <p:blipFill>
          <a:blip r:embed="rId3">
            <a:alphaModFix/>
          </a:blip>
          <a:stretch>
            <a:fillRect/>
          </a:stretch>
        </p:blipFill>
        <p:spPr>
          <a:xfrm>
            <a:off x="269188" y="152400"/>
            <a:ext cx="8605621" cy="48387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id="525" name="Google Shape;525;g249c1b7926f_0_13"/>
          <p:cNvPicPr preferRelativeResize="0"/>
          <p:nvPr/>
        </p:nvPicPr>
        <p:blipFill>
          <a:blip r:embed="rId3">
            <a:alphaModFix/>
          </a:blip>
          <a:stretch>
            <a:fillRect/>
          </a:stretch>
        </p:blipFill>
        <p:spPr>
          <a:xfrm>
            <a:off x="269188" y="152400"/>
            <a:ext cx="8605621" cy="48387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g249c1b7926f_0_17"/>
          <p:cNvPicPr preferRelativeResize="0"/>
          <p:nvPr/>
        </p:nvPicPr>
        <p:blipFill>
          <a:blip r:embed="rId3">
            <a:alphaModFix/>
          </a:blip>
          <a:stretch>
            <a:fillRect/>
          </a:stretch>
        </p:blipFill>
        <p:spPr>
          <a:xfrm>
            <a:off x="269188" y="152400"/>
            <a:ext cx="8605621" cy="48387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249c0589175_0_1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12. CONCLUSION</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249c0589175_0_18"/>
          <p:cNvSpPr txBox="1"/>
          <p:nvPr>
            <p:ph idx="1" type="body"/>
          </p:nvPr>
        </p:nvSpPr>
        <p:spPr>
          <a:xfrm>
            <a:off x="1052550" y="1132025"/>
            <a:ext cx="7038900" cy="35361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en-GB" sz="2000">
                <a:latin typeface="Arial"/>
                <a:ea typeface="Arial"/>
                <a:cs typeface="Arial"/>
                <a:sym typeface="Arial"/>
              </a:rPr>
              <a:t>For Alzheimer’s Disease, It is more important to reduce risk, provide early intervention, and precisely detect symptoms than to deliver a cure. Identifying relevant attributes that can detect Alzheimer's very early remains challenging. A deep learning model could be used to diagnose Alzheimer's stages. Our most comprehensive multi-diagnostic classifiers may be clinically relevant if further prospective RCT-controlled studies are successful.</a:t>
            </a:r>
            <a:endParaRPr sz="2000">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g249c0589175_0_6"/>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13. FUTURE SCOPE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249c0589175_0_0"/>
          <p:cNvSpPr txBox="1"/>
          <p:nvPr>
            <p:ph idx="1" type="body"/>
          </p:nvPr>
        </p:nvSpPr>
        <p:spPr>
          <a:xfrm>
            <a:off x="1135925" y="1070700"/>
            <a:ext cx="7038900" cy="3428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GB" sz="2000">
                <a:latin typeface="Arial"/>
                <a:ea typeface="Arial"/>
                <a:cs typeface="Arial"/>
                <a:sym typeface="Arial"/>
              </a:rPr>
              <a:t>Future work will focus on improving the model's accuracy and collecting large amounts of data on Alzheimer's for training the model more efficiently. To improve the detection accuracy of Alzheimer's Disease, it is also important to identify and analyze new features that will help detect the disease, and to remove redundant and irrelevant features from existing feature sets.</a:t>
            </a:r>
            <a:endParaRPr sz="2000">
              <a:latin typeface="Arial"/>
              <a:ea typeface="Arial"/>
              <a:cs typeface="Arial"/>
              <a:sym typeface="Arial"/>
            </a:endParaRPr>
          </a:p>
          <a:p>
            <a:pPr indent="0" lvl="0" marL="0" rtl="0" algn="l">
              <a:spcBef>
                <a:spcPts val="0"/>
              </a:spcBef>
              <a:spcAft>
                <a:spcPts val="0"/>
              </a:spcAft>
              <a:buNone/>
            </a:pPr>
            <a:r>
              <a:t/>
            </a:r>
            <a:endParaRPr sz="2000">
              <a:latin typeface="Arial"/>
              <a:ea typeface="Arial"/>
              <a:cs typeface="Arial"/>
              <a:sym typeface="Arial"/>
            </a:endParaRPr>
          </a:p>
          <a:p>
            <a:pPr indent="0" lvl="0" marL="0" rtl="0" algn="l">
              <a:spcBef>
                <a:spcPts val="0"/>
              </a:spcBef>
              <a:spcAft>
                <a:spcPts val="0"/>
              </a:spcAft>
              <a:buNone/>
            </a:pPr>
            <a:r>
              <a:t/>
            </a:r>
            <a:endParaRPr sz="2000">
              <a:latin typeface="Arial"/>
              <a:ea typeface="Arial"/>
              <a:cs typeface="Arial"/>
              <a:sym typeface="Arial"/>
            </a:endParaRPr>
          </a:p>
        </p:txBody>
      </p:sp>
      <p:sp>
        <p:nvSpPr>
          <p:cNvPr id="551" name="Google Shape;551;g249c0589175_0_0"/>
          <p:cNvSpPr txBox="1"/>
          <p:nvPr/>
        </p:nvSpPr>
        <p:spPr>
          <a:xfrm>
            <a:off x="4396425" y="2450850"/>
            <a:ext cx="38778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22da1217f31_0_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Environment used</a:t>
            </a:r>
            <a:endParaRPr/>
          </a:p>
        </p:txBody>
      </p:sp>
      <p:sp>
        <p:nvSpPr>
          <p:cNvPr id="557" name="Google Shape;557;g22da1217f31_0_18"/>
          <p:cNvSpPr txBox="1"/>
          <p:nvPr>
            <p:ph idx="1" type="body"/>
          </p:nvPr>
        </p:nvSpPr>
        <p:spPr>
          <a:xfrm>
            <a:off x="1297500" y="1567550"/>
            <a:ext cx="6331800" cy="2911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GB" sz="2000">
                <a:latin typeface="Arial"/>
                <a:ea typeface="Arial"/>
                <a:cs typeface="Arial"/>
                <a:sym typeface="Arial"/>
              </a:rPr>
              <a:t>Development environment : Google Colab Notebook,VScode.</a:t>
            </a:r>
            <a:endParaRPr sz="2000">
              <a:latin typeface="Arial"/>
              <a:ea typeface="Arial"/>
              <a:cs typeface="Arial"/>
              <a:sym typeface="Arial"/>
            </a:endParaRPr>
          </a:p>
          <a:p>
            <a:pPr indent="-317500" lvl="0" marL="457200" rtl="0" algn="l">
              <a:spcBef>
                <a:spcPts val="0"/>
              </a:spcBef>
              <a:spcAft>
                <a:spcPts val="0"/>
              </a:spcAft>
              <a:buSzPts val="1400"/>
              <a:buFont typeface="Arial"/>
              <a:buChar char="●"/>
            </a:pPr>
            <a:r>
              <a:rPr lang="en-GB" sz="2000">
                <a:latin typeface="Arial"/>
                <a:ea typeface="Arial"/>
                <a:cs typeface="Arial"/>
                <a:sym typeface="Arial"/>
              </a:rPr>
              <a:t>Language : Python 3.11</a:t>
            </a:r>
            <a:endParaRPr sz="2000">
              <a:latin typeface="Arial"/>
              <a:ea typeface="Arial"/>
              <a:cs typeface="Arial"/>
              <a:sym typeface="Arial"/>
            </a:endParaRPr>
          </a:p>
          <a:p>
            <a:pPr indent="-317500" lvl="0" marL="457200" rtl="0" algn="l">
              <a:spcBef>
                <a:spcPts val="0"/>
              </a:spcBef>
              <a:spcAft>
                <a:spcPts val="0"/>
              </a:spcAft>
              <a:buSzPts val="1400"/>
              <a:buFont typeface="Arial"/>
              <a:buChar char="●"/>
            </a:pPr>
            <a:r>
              <a:rPr lang="en-GB" sz="2000">
                <a:latin typeface="Arial"/>
                <a:ea typeface="Arial"/>
                <a:cs typeface="Arial"/>
                <a:sym typeface="Arial"/>
              </a:rPr>
              <a:t>User Interface : Streamlit </a:t>
            </a:r>
            <a:endParaRPr sz="2000">
              <a:latin typeface="Arial"/>
              <a:ea typeface="Arial"/>
              <a:cs typeface="Arial"/>
              <a:sym typeface="Arial"/>
            </a:endParaRPr>
          </a:p>
          <a:p>
            <a:pPr indent="0" lvl="0" marL="457200" rtl="0" algn="l">
              <a:spcBef>
                <a:spcPts val="0"/>
              </a:spcBef>
              <a:spcAft>
                <a:spcPts val="0"/>
              </a:spcAft>
              <a:buNone/>
            </a:pPr>
            <a:r>
              <a:t/>
            </a:r>
            <a:endParaRPr sz="2000">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6"/>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GB"/>
              <a:t>14. BIBLIOGRAPHY</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37"/>
          <p:cNvSpPr txBox="1"/>
          <p:nvPr>
            <p:ph idx="1" type="body"/>
          </p:nvPr>
        </p:nvSpPr>
        <p:spPr>
          <a:xfrm>
            <a:off x="1297500" y="1150143"/>
            <a:ext cx="7038900" cy="3328631"/>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Font typeface="Arial"/>
              <a:buChar char="●"/>
            </a:pPr>
            <a:r>
              <a:rPr lang="en-GB" sz="1400">
                <a:latin typeface="Arial"/>
                <a:ea typeface="Arial"/>
                <a:cs typeface="Arial"/>
                <a:sym typeface="Arial"/>
              </a:rPr>
              <a:t>Dan Pan, An Zeng, Longfei Jia,Yin Huang,Tory Frizzell and Xiaowei Song (2020) Early Detection of Alzheimer’s Disease Using Magnetic Resonance Imaging: A Novel Approach Combining Convolutional Neural Networks and Ensemble Learning.</a:t>
            </a:r>
            <a:endParaRPr/>
          </a:p>
          <a:p>
            <a:pPr indent="0" lvl="0" marL="139700" rtl="0" algn="l">
              <a:lnSpc>
                <a:spcPct val="115000"/>
              </a:lnSpc>
              <a:spcBef>
                <a:spcPts val="0"/>
              </a:spcBef>
              <a:spcAft>
                <a:spcPts val="0"/>
              </a:spcAft>
              <a:buSzPts val="1400"/>
              <a:buNone/>
            </a:pPr>
            <a:r>
              <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GB" sz="1400">
                <a:latin typeface="Arial"/>
                <a:ea typeface="Arial"/>
                <a:cs typeface="Arial"/>
                <a:sym typeface="Arial"/>
              </a:rPr>
              <a:t>C.Kavitha, Vinodini Mani, S.R Sri Vidhya, Osmah Ibrahim, Carlos Andres (2022) Early-Stage Alzheimer's Disease Prediction Using Machine Learning Models.Early-Stage Alzheimer's Disease Prediction Using Machine Learning Models.</a:t>
            </a:r>
            <a:endParaRPr/>
          </a:p>
          <a:p>
            <a:pPr indent="0" lvl="0" marL="139700" rtl="0" algn="l">
              <a:lnSpc>
                <a:spcPct val="115000"/>
              </a:lnSpc>
              <a:spcBef>
                <a:spcPts val="0"/>
              </a:spcBef>
              <a:spcAft>
                <a:spcPts val="0"/>
              </a:spcAft>
              <a:buSzPts val="1400"/>
              <a:buNone/>
            </a:pPr>
            <a:r>
              <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GB" sz="1400">
                <a:latin typeface="Arial"/>
                <a:ea typeface="Arial"/>
                <a:cs typeface="Arial"/>
                <a:sym typeface="Arial"/>
              </a:rPr>
              <a:t>Roobaea Alrobaea, Seifeddine Mechti, Mariem Haoues, Saeed Rubaiee(2021) Alzheimer's Disease Early Detection Using Machine Learning Techniques.</a:t>
            </a:r>
            <a:endParaRPr sz="1400">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38"/>
          <p:cNvSpPr txBox="1"/>
          <p:nvPr>
            <p:ph idx="1" type="body"/>
          </p:nvPr>
        </p:nvSpPr>
        <p:spPr>
          <a:xfrm>
            <a:off x="1040925" y="943175"/>
            <a:ext cx="7771200" cy="3257100"/>
          </a:xfrm>
          <a:prstGeom prst="rect">
            <a:avLst/>
          </a:prstGeom>
          <a:noFill/>
          <a:ln>
            <a:noFill/>
          </a:ln>
        </p:spPr>
        <p:txBody>
          <a:bodyPr anchorCtr="0" anchor="t" bIns="91425" lIns="91425" spcFirstLastPara="1" rIns="91425" wrap="square" tIns="91425">
            <a:normAutofit fontScale="55000" lnSpcReduction="20000"/>
          </a:bodyPr>
          <a:lstStyle/>
          <a:p>
            <a:pPr indent="-228600" lvl="0" marL="457200" rtl="0" algn="l">
              <a:lnSpc>
                <a:spcPct val="115000"/>
              </a:lnSpc>
              <a:spcBef>
                <a:spcPts val="0"/>
              </a:spcBef>
              <a:spcAft>
                <a:spcPts val="0"/>
              </a:spcAft>
              <a:buSzPct val="62299"/>
              <a:buNone/>
            </a:pPr>
            <a:r>
              <a:t/>
            </a:r>
            <a:endParaRPr sz="2086">
              <a:latin typeface="Arial"/>
              <a:ea typeface="Arial"/>
              <a:cs typeface="Arial"/>
              <a:sym typeface="Arial"/>
            </a:endParaRPr>
          </a:p>
          <a:p>
            <a:pPr indent="-320527" lvl="0" marL="457200" rtl="0" algn="l">
              <a:lnSpc>
                <a:spcPct val="115000"/>
              </a:lnSpc>
              <a:spcBef>
                <a:spcPts val="0"/>
              </a:spcBef>
              <a:spcAft>
                <a:spcPts val="0"/>
              </a:spcAft>
              <a:buSzPct val="100000"/>
              <a:buFont typeface="Arial"/>
              <a:buChar char="●"/>
            </a:pPr>
            <a:r>
              <a:rPr lang="en-GB" sz="2632">
                <a:latin typeface="Arial"/>
                <a:ea typeface="Arial"/>
                <a:cs typeface="Arial"/>
                <a:sym typeface="Arial"/>
              </a:rPr>
              <a:t>Weiming lin, Tong Tong, Qinquan Gao, Di Guo, Xiaofeng Du, Yonngui Yang, Gang Guo, Min Xiao, Min Du, Xiaobo Qu (2018) Convolutional Neural Networks-Based MRI Image Analysis for the Alzheimer's Disease Prediction From Mild Cognitive Impairment.</a:t>
            </a:r>
            <a:endParaRPr sz="2632">
              <a:latin typeface="Arial"/>
              <a:ea typeface="Arial"/>
              <a:cs typeface="Arial"/>
              <a:sym typeface="Arial"/>
            </a:endParaRPr>
          </a:p>
          <a:p>
            <a:pPr indent="0" lvl="0" marL="146050" rtl="0" algn="l">
              <a:lnSpc>
                <a:spcPct val="115000"/>
              </a:lnSpc>
              <a:spcBef>
                <a:spcPts val="0"/>
              </a:spcBef>
              <a:spcAft>
                <a:spcPts val="0"/>
              </a:spcAft>
              <a:buSzPct val="49389"/>
              <a:buNone/>
            </a:pPr>
            <a:r>
              <a:t/>
            </a:r>
            <a:endParaRPr sz="2632">
              <a:latin typeface="Arial"/>
              <a:ea typeface="Arial"/>
              <a:cs typeface="Arial"/>
              <a:sym typeface="Arial"/>
            </a:endParaRPr>
          </a:p>
          <a:p>
            <a:pPr indent="-320527" lvl="0" marL="457200" rtl="0" algn="l">
              <a:lnSpc>
                <a:spcPct val="115000"/>
              </a:lnSpc>
              <a:spcBef>
                <a:spcPts val="0"/>
              </a:spcBef>
              <a:spcAft>
                <a:spcPts val="0"/>
              </a:spcAft>
              <a:buSzPct val="100000"/>
              <a:buFont typeface="Arial"/>
              <a:buChar char="●"/>
            </a:pPr>
            <a:r>
              <a:rPr lang="en-GB" sz="2632">
                <a:latin typeface="Arial"/>
                <a:ea typeface="Arial"/>
                <a:cs typeface="Arial"/>
                <a:sym typeface="Arial"/>
              </a:rPr>
              <a:t>Vasco Sá Diogo, Hugo Alexandre Ferreira &amp; Diana Prata (2022) Early diagnosis of Alzheimer’s disease using machine learning: a multi-diagnostic, generalizable approach.</a:t>
            </a:r>
            <a:endParaRPr sz="2632">
              <a:latin typeface="Arial"/>
              <a:ea typeface="Arial"/>
              <a:cs typeface="Arial"/>
              <a:sym typeface="Arial"/>
            </a:endParaRPr>
          </a:p>
          <a:p>
            <a:pPr indent="0" lvl="0" marL="146050" rtl="0" algn="l">
              <a:lnSpc>
                <a:spcPct val="115000"/>
              </a:lnSpc>
              <a:spcBef>
                <a:spcPts val="0"/>
              </a:spcBef>
              <a:spcAft>
                <a:spcPts val="0"/>
              </a:spcAft>
              <a:buSzPct val="49389"/>
              <a:buNone/>
            </a:pPr>
            <a:r>
              <a:t/>
            </a:r>
            <a:endParaRPr sz="2632">
              <a:latin typeface="Arial"/>
              <a:ea typeface="Arial"/>
              <a:cs typeface="Arial"/>
              <a:sym typeface="Arial"/>
            </a:endParaRPr>
          </a:p>
          <a:p>
            <a:pPr indent="-320527" lvl="0" marL="457200" rtl="0" algn="l">
              <a:lnSpc>
                <a:spcPct val="115000"/>
              </a:lnSpc>
              <a:spcBef>
                <a:spcPts val="0"/>
              </a:spcBef>
              <a:spcAft>
                <a:spcPts val="0"/>
              </a:spcAft>
              <a:buSzPct val="100000"/>
              <a:buFont typeface="Arial"/>
              <a:buChar char="●"/>
            </a:pPr>
            <a:r>
              <a:rPr lang="en-GB" sz="2632">
                <a:latin typeface="Arial"/>
                <a:ea typeface="Arial"/>
                <a:cs typeface="Arial"/>
                <a:sym typeface="Arial"/>
              </a:rPr>
              <a:t>Carol Y cheung, An Ran Ran, Shujun Wang, Victor TT Chan, Kaiser Sham, Saima hilal (2022) A deep learning model for detection of Alzheimer's disease based on retinal photographs: a retrospective, multicentre case-control study.</a:t>
            </a:r>
            <a:endParaRPr sz="2632">
              <a:latin typeface="Arial"/>
              <a:ea typeface="Arial"/>
              <a:cs typeface="Arial"/>
              <a:sym typeface="Arial"/>
            </a:endParaRPr>
          </a:p>
          <a:p>
            <a:pPr indent="-228600" lvl="0" marL="457200" rtl="0" algn="l">
              <a:lnSpc>
                <a:spcPct val="115000"/>
              </a:lnSpc>
              <a:spcBef>
                <a:spcPts val="0"/>
              </a:spcBef>
              <a:spcAft>
                <a:spcPts val="0"/>
              </a:spcAft>
              <a:buSzPct val="62299"/>
              <a:buNone/>
            </a:pPr>
            <a:r>
              <a:t/>
            </a:r>
            <a:endParaRPr sz="2086">
              <a:latin typeface="Arial"/>
              <a:ea typeface="Arial"/>
              <a:cs typeface="Arial"/>
              <a:sym typeface="Arial"/>
            </a:endParaRPr>
          </a:p>
          <a:p>
            <a:pPr indent="-228600" lvl="0" marL="457200" rtl="0" algn="l">
              <a:lnSpc>
                <a:spcPct val="115000"/>
              </a:lnSpc>
              <a:spcBef>
                <a:spcPts val="0"/>
              </a:spcBef>
              <a:spcAft>
                <a:spcPts val="0"/>
              </a:spcAft>
              <a:buSzPct val="100000"/>
              <a:buNone/>
            </a:pPr>
            <a:r>
              <a:t/>
            </a:r>
            <a:endParaRPr/>
          </a:p>
          <a:p>
            <a:pPr indent="-228600" lvl="0" marL="457200" rtl="0" algn="l">
              <a:lnSpc>
                <a:spcPct val="115000"/>
              </a:lnSpc>
              <a:spcBef>
                <a:spcPts val="0"/>
              </a:spcBef>
              <a:spcAft>
                <a:spcPts val="0"/>
              </a:spcAft>
              <a:buSzPct val="100000"/>
              <a:buNone/>
            </a:pPr>
            <a:r>
              <a:t/>
            </a:r>
            <a:endParaRPr/>
          </a:p>
          <a:p>
            <a:pPr indent="-228600" lvl="0" marL="457200" rtl="0" algn="l">
              <a:lnSpc>
                <a:spcPct val="115000"/>
              </a:lnSpc>
              <a:spcBef>
                <a:spcPts val="0"/>
              </a:spcBef>
              <a:spcAft>
                <a:spcPts val="0"/>
              </a:spcAft>
              <a:buSzPct val="100000"/>
              <a:buNone/>
            </a:pPr>
            <a:r>
              <a:t/>
            </a:r>
            <a:endParaRPr/>
          </a:p>
          <a:p>
            <a:pPr indent="-228600" lvl="0" marL="457200" rtl="0" algn="l">
              <a:lnSpc>
                <a:spcPct val="115000"/>
              </a:lnSpc>
              <a:spcBef>
                <a:spcPts val="0"/>
              </a:spcBef>
              <a:spcAft>
                <a:spcPts val="0"/>
              </a:spcAft>
              <a:buSzPct val="100000"/>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39"/>
          <p:cNvSpPr txBox="1"/>
          <p:nvPr>
            <p:ph idx="1" type="body"/>
          </p:nvPr>
        </p:nvSpPr>
        <p:spPr>
          <a:xfrm>
            <a:off x="1333219" y="1116150"/>
            <a:ext cx="7038900" cy="29112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1400">
                <a:latin typeface="Arial"/>
                <a:ea typeface="Arial"/>
                <a:cs typeface="Arial"/>
                <a:sym typeface="Arial"/>
              </a:rPr>
              <a:t>Taeho jo, Kwangsik Nho, Andrew J.Saykin (2019) Deep Learning in Alzheimer's Disease: Diagnostic Classification and Prognostic Prediction Using Neuroimaging Data.</a:t>
            </a:r>
            <a:endParaRPr/>
          </a:p>
          <a:p>
            <a:pPr indent="-228600" lvl="0" marL="457200" rtl="0" algn="l">
              <a:lnSpc>
                <a:spcPct val="115000"/>
              </a:lnSpc>
              <a:spcBef>
                <a:spcPts val="0"/>
              </a:spcBef>
              <a:spcAft>
                <a:spcPts val="0"/>
              </a:spcAft>
              <a:buSzPts val="1300"/>
              <a:buNone/>
            </a:pPr>
            <a:r>
              <a:t/>
            </a:r>
            <a:endParaRPr sz="1400">
              <a:latin typeface="Arial"/>
              <a:ea typeface="Arial"/>
              <a:cs typeface="Arial"/>
              <a:sym typeface="Arial"/>
            </a:endParaRPr>
          </a:p>
          <a:p>
            <a:pPr indent="-311150" lvl="0" marL="457200" rtl="0" algn="l">
              <a:lnSpc>
                <a:spcPct val="115000"/>
              </a:lnSpc>
              <a:spcBef>
                <a:spcPts val="0"/>
              </a:spcBef>
              <a:spcAft>
                <a:spcPts val="0"/>
              </a:spcAft>
              <a:buSzPts val="1300"/>
              <a:buChar char="●"/>
            </a:pPr>
            <a:r>
              <a:rPr lang="en-GB" sz="1400">
                <a:latin typeface="Arial"/>
                <a:ea typeface="Arial"/>
                <a:cs typeface="Arial"/>
                <a:sym typeface="Arial"/>
              </a:rPr>
              <a:t>Muhammed Raees, Vinu Thomas (2021) Automated detection of Alzheimer’s Disease using Deep Learning in MRI.</a:t>
            </a:r>
            <a:endParaRPr/>
          </a:p>
          <a:p>
            <a:pPr indent="-228600" lvl="0" marL="457200" rtl="0" algn="l">
              <a:lnSpc>
                <a:spcPct val="115000"/>
              </a:lnSpc>
              <a:spcBef>
                <a:spcPts val="0"/>
              </a:spcBef>
              <a:spcAft>
                <a:spcPts val="0"/>
              </a:spcAft>
              <a:buSzPts val="1300"/>
              <a:buNone/>
            </a:pPr>
            <a:r>
              <a:t/>
            </a:r>
            <a:endParaRPr sz="1400">
              <a:latin typeface="Arial"/>
              <a:ea typeface="Arial"/>
              <a:cs typeface="Arial"/>
              <a:sym typeface="Arial"/>
            </a:endParaRPr>
          </a:p>
          <a:p>
            <a:pPr indent="-311150" lvl="0" marL="457200" rtl="0" algn="l">
              <a:lnSpc>
                <a:spcPct val="115000"/>
              </a:lnSpc>
              <a:spcBef>
                <a:spcPts val="0"/>
              </a:spcBef>
              <a:spcAft>
                <a:spcPts val="0"/>
              </a:spcAft>
              <a:buSzPts val="1300"/>
              <a:buChar char="●"/>
            </a:pPr>
            <a:r>
              <a:rPr lang="en-GB" sz="1400">
                <a:latin typeface="Arial"/>
                <a:ea typeface="Arial"/>
                <a:cs typeface="Arial"/>
                <a:sym typeface="Arial"/>
              </a:rPr>
              <a:t>Sheng Liu, Arjun V. Masukar, Henry Rusinek, Jingyun Chen, Ben Zhang, Weicheng Zhu (2022) Generalizable deep learning model for early Alzheimer’s disease detection from structural MRIs.</a:t>
            </a:r>
            <a:endParaRPr sz="1400">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pic>
        <p:nvPicPr>
          <p:cNvPr id="582" name="Google Shape;582;p40"/>
          <p:cNvPicPr preferRelativeResize="0"/>
          <p:nvPr/>
        </p:nvPicPr>
        <p:blipFill rotWithShape="1">
          <a:blip r:embed="rId3">
            <a:alphaModFix/>
          </a:blip>
          <a:srcRect b="0" l="0" r="0" t="0"/>
          <a:stretch/>
        </p:blipFill>
        <p:spPr>
          <a:xfrm>
            <a:off x="-50225" y="0"/>
            <a:ext cx="9194225" cy="5206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MANJREKAR</dc:creator>
</cp:coreProperties>
</file>